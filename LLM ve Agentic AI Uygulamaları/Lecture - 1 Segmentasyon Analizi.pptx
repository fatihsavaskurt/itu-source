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598" r:id="rId3"/>
    <p:sldId id="636" r:id="rId4"/>
    <p:sldId id="600" r:id="rId5"/>
    <p:sldId id="601" r:id="rId6"/>
    <p:sldId id="639" r:id="rId7"/>
    <p:sldId id="602" r:id="rId8"/>
    <p:sldId id="607" r:id="rId9"/>
    <p:sldId id="640" r:id="rId10"/>
    <p:sldId id="641" r:id="rId11"/>
    <p:sldId id="643" r:id="rId12"/>
    <p:sldId id="642" r:id="rId13"/>
    <p:sldId id="637" r:id="rId14"/>
    <p:sldId id="638" r:id="rId15"/>
    <p:sldId id="645" r:id="rId16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3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02265-1F21-4BE8-AE87-4F76FEDB1F7C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C3A208-E792-499F-9D6D-AC8FC94E1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014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76013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99261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</p:spTree>
    <p:extLst>
      <p:ext uri="{BB962C8B-B14F-4D97-AF65-F5344CB8AC3E}">
        <p14:creationId xmlns:p14="http://schemas.microsoft.com/office/powerpoint/2010/main" val="392740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9529"/>
            <a:ext cx="10515600" cy="492110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838200" y="1272988"/>
            <a:ext cx="10515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7027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328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452375"/>
            <a:ext cx="5181600" cy="472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452375"/>
            <a:ext cx="5181600" cy="472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838200" y="1272988"/>
            <a:ext cx="10515600" cy="4571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3905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47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121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23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9588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77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97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8CEC50-FB80-41CE-A79E-F784588765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106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Yasin Cou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104B0-B4FD-470E-9F94-D0A011F15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0"/>
            <a:ext cx="10363200" cy="1219200"/>
          </a:xfr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0AB8B-4994-4C71-8D45-4CD65A31D1BE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914400" y="1524000"/>
            <a:ext cx="1036320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CE96C7-E505-44D6-B1D8-B942E2771F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0D3006-5145-4CA3-840D-F763F67481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E0426F-2674-44A3-BDE8-AFE74A7FD6E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B4E47A-8363-4036-90DE-956001968EA4}" type="slidenum">
              <a:rPr lang="en-US" altLang="en-US" smtClean="0"/>
              <a:pPr>
                <a:defRPr/>
              </a:pPr>
              <a:t>‹#›</a:t>
            </a:fld>
            <a:endParaRPr lang="en-US" alt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5A3947-35DA-44C0-8632-B6A13D2C2431}"/>
              </a:ext>
            </a:extLst>
          </p:cNvPr>
          <p:cNvSpPr/>
          <p:nvPr userDrawn="1"/>
        </p:nvSpPr>
        <p:spPr>
          <a:xfrm>
            <a:off x="711200" y="1295401"/>
            <a:ext cx="10058400" cy="45719"/>
          </a:xfrm>
          <a:prstGeom prst="rect">
            <a:avLst/>
          </a:prstGeom>
          <a:solidFill>
            <a:srgbClr val="12EB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95431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78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89529"/>
            <a:ext cx="10515600" cy="47874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00437A"/>
                </a:solidFill>
              </a:defRPr>
            </a:lvl1pPr>
          </a:lstStyle>
          <a:p>
            <a:r>
              <a:rPr lang="en-US"/>
              <a:t>İTÜSEM - Mehmet Yasin Ulukuş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625" y="6176963"/>
            <a:ext cx="1082869" cy="60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735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437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Agentic AI </a:t>
            </a:r>
            <a:r>
              <a:rPr lang="en-US" dirty="0" err="1"/>
              <a:t>Uygulamaları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Müşteri</a:t>
            </a:r>
            <a:r>
              <a:rPr lang="en-US" dirty="0"/>
              <a:t> </a:t>
            </a:r>
            <a:r>
              <a:rPr lang="en-US"/>
              <a:t>Segmentasyonu</a:t>
            </a:r>
            <a:endParaRPr lang="en-US" dirty="0"/>
          </a:p>
          <a:p>
            <a:r>
              <a:rPr lang="tr-TR" dirty="0"/>
              <a:t>Dr. Mehmet Yasin Ulukuş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İTÜSEM - Mehmet Yasin Ulukuş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3089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Denetimsiz Öğrenme</a:t>
            </a:r>
            <a:r>
              <a:rPr lang="en-US" dirty="0"/>
              <a:t> (</a:t>
            </a:r>
            <a:r>
              <a:rPr lang="tr-TR" dirty="0"/>
              <a:t>Unsupervised Learning</a:t>
            </a:r>
            <a:r>
              <a:rPr lang="en-US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6044381" cy="492110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 err="1"/>
                  <a:t>Geçmiş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Derslerde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Denetimli</a:t>
                </a:r>
                <a:r>
                  <a:rPr lang="en-US" sz="2400" dirty="0"/>
                  <a:t> - Supervised): </a:t>
                </a:r>
                <a:r>
                  <a:rPr lang="en-US" sz="2400" dirty="0" err="1"/>
                  <a:t>Elimizde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bir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hedef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) </a:t>
                </a:r>
                <a:r>
                  <a:rPr lang="en-US" sz="2400" dirty="0" err="1"/>
                  <a:t>vardı</a:t>
                </a:r>
                <a:endParaRPr lang="en-US" sz="2400" dirty="0"/>
              </a:p>
              <a:p>
                <a:r>
                  <a:rPr lang="en-US" sz="2400" dirty="0" err="1"/>
                  <a:t>Makineye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cevap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anahtarını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verip</a:t>
                </a:r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ile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arasındaki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fonksiyonu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bulmasını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istedik</a:t>
                </a:r>
                <a:r>
                  <a:rPr lang="en-US" sz="2400" dirty="0"/>
                  <a:t>.</a:t>
                </a:r>
              </a:p>
              <a:p>
                <a:r>
                  <a:rPr lang="en-US" sz="2400" dirty="0" err="1"/>
                  <a:t>Şimdi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Denetimsiz</a:t>
                </a:r>
                <a:r>
                  <a:rPr lang="en-US" sz="2400" dirty="0"/>
                  <a:t> - Unsupervised): </a:t>
                </a:r>
                <a:r>
                  <a:rPr lang="en-US" sz="2400" dirty="0" err="1"/>
                  <a:t>Elimizde</a:t>
                </a:r>
                <a:r>
                  <a:rPr lang="en-US" sz="2400" dirty="0"/>
                  <a:t> SADECE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matrisi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Müşterilerin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harcama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alışkanlıkları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yaşları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gelirleri</a:t>
                </a:r>
                <a:r>
                  <a:rPr lang="en-US" sz="2400" dirty="0"/>
                  <a:t> vs.) var. </a:t>
                </a:r>
              </a:p>
              <a:p>
                <a:r>
                  <a:rPr lang="en-US" sz="2400" dirty="0"/>
                  <a:t>Bir </a:t>
                </a:r>
                <a:r>
                  <a:rPr lang="en-US" sz="2400" dirty="0" err="1"/>
                  <a:t>cevap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anahtarı</a:t>
                </a:r>
                <a:r>
                  <a:rPr lang="en-US" sz="2400" dirty="0"/>
                  <a:t> yok!</a:t>
                </a:r>
              </a:p>
              <a:p>
                <a:r>
                  <a:rPr lang="en-US" sz="2400" dirty="0" err="1"/>
                  <a:t>Makineden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verinin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içindeki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doğal</a:t>
                </a:r>
                <a:r>
                  <a:rPr lang="en-US" sz="2400" dirty="0"/>
                  <a:t> </a:t>
                </a:r>
                <a:r>
                  <a:rPr lang="en-US" sz="2400" dirty="0" err="1"/>
                  <a:t>yapıları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gizli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örüntüleri</a:t>
                </a:r>
                <a:r>
                  <a:rPr lang="en-US" sz="2400" dirty="0"/>
                  <a:t> (patterns) </a:t>
                </a:r>
                <a:r>
                  <a:rPr lang="en-US" sz="2400" dirty="0" err="1"/>
                  <a:t>ve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kümeleri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kendi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kendine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keşfetmesini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istiyoruz</a:t>
                </a:r>
                <a:r>
                  <a:rPr lang="en-US" sz="2400" dirty="0"/>
                  <a:t>. </a:t>
                </a:r>
              </a:p>
              <a:p>
                <a:r>
                  <a:rPr lang="en-US" sz="2400" dirty="0"/>
                  <a:t>"Bana </a:t>
                </a:r>
                <a:r>
                  <a:rPr lang="en-US" sz="2400" dirty="0" err="1"/>
                  <a:t>birbirine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benzeyen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insanları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grupla</a:t>
                </a:r>
                <a:r>
                  <a:rPr lang="en-US" sz="2400" dirty="0"/>
                  <a:t>!" </a:t>
                </a:r>
                <a:r>
                  <a:rPr lang="en-US" sz="2400" dirty="0" err="1"/>
                  <a:t>diyoruz</a:t>
                </a:r>
                <a:r>
                  <a:rPr lang="en-US" sz="2400" dirty="0"/>
                  <a:t>.</a:t>
                </a:r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6044381" cy="4921102"/>
              </a:xfrm>
              <a:blipFill>
                <a:blip r:embed="rId2"/>
                <a:stretch>
                  <a:fillRect l="-1413" t="-23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A5E76E-DABF-4E0E-8600-90C33DB31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49" y="1389529"/>
            <a:ext cx="3476625" cy="2402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238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Denetimsiz Öğrenme (Unsupervised Learning)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9" y="1389529"/>
                <a:ext cx="5985387" cy="4921102"/>
              </a:xfrm>
            </p:spPr>
            <p:txBody>
              <a:bodyPr>
                <a:noAutofit/>
              </a:bodyPr>
              <a:lstStyle/>
              <a:p>
                <a:r>
                  <a:rPr lang="en-US" sz="2200" dirty="0" err="1"/>
                  <a:t>Makineden</a:t>
                </a:r>
                <a:r>
                  <a:rPr lang="en-US" sz="2200" dirty="0"/>
                  <a:t>, </a:t>
                </a:r>
                <a:r>
                  <a:rPr lang="en-US" sz="2200" dirty="0" err="1"/>
                  <a:t>verinin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içindeki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doğal</a:t>
                </a:r>
                <a:r>
                  <a:rPr lang="en-US" sz="2200" dirty="0"/>
                  <a:t> </a:t>
                </a:r>
                <a:r>
                  <a:rPr lang="en-US" sz="2200" dirty="0" err="1"/>
                  <a:t>yapıları</a:t>
                </a:r>
                <a:r>
                  <a:rPr lang="en-US" sz="2200" dirty="0"/>
                  <a:t>, </a:t>
                </a:r>
                <a:r>
                  <a:rPr lang="en-US" sz="2200" dirty="0" err="1"/>
                  <a:t>gizli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örüntüleri</a:t>
                </a:r>
                <a:r>
                  <a:rPr lang="en-US" sz="2200" dirty="0"/>
                  <a:t> (patterns) </a:t>
                </a:r>
                <a:r>
                  <a:rPr lang="en-US" sz="2200" dirty="0" err="1"/>
                  <a:t>ve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kümeleri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kendi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kendine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keşfetmesini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istiyoruz</a:t>
                </a:r>
                <a:r>
                  <a:rPr lang="en-US" sz="2200" dirty="0"/>
                  <a:t>. </a:t>
                </a:r>
              </a:p>
              <a:p>
                <a:r>
                  <a:rPr lang="en-US" sz="2200" dirty="0" err="1"/>
                  <a:t>Temel</a:t>
                </a:r>
                <a:r>
                  <a:rPr lang="en-US" sz="2200" dirty="0"/>
                  <a:t> </a:t>
                </a:r>
                <a:r>
                  <a:rPr lang="en-US" sz="2200" dirty="0" err="1"/>
                  <a:t>olarak</a:t>
                </a:r>
                <a:r>
                  <a:rPr lang="en-US" sz="2200" dirty="0"/>
                  <a:t> "Bana </a:t>
                </a:r>
                <a:r>
                  <a:rPr lang="en-US" sz="2200" dirty="0" err="1"/>
                  <a:t>birbirine</a:t>
                </a:r>
                <a:r>
                  <a:rPr lang="en-US" sz="2200" dirty="0"/>
                  <a:t> </a:t>
                </a:r>
                <a:r>
                  <a:rPr lang="en-US" sz="2200" dirty="0" err="1"/>
                  <a:t>benzeyen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insanları</a:t>
                </a:r>
                <a:r>
                  <a:rPr lang="en-US" sz="2200" dirty="0"/>
                  <a:t> </a:t>
                </a:r>
                <a:r>
                  <a:rPr lang="en-US" sz="2200" dirty="0" err="1"/>
                  <a:t>grupla</a:t>
                </a:r>
                <a:r>
                  <a:rPr lang="en-US" sz="2200" dirty="0"/>
                  <a:t>!" </a:t>
                </a:r>
                <a:r>
                  <a:rPr lang="en-US" sz="2200" dirty="0" err="1"/>
                  <a:t>diyoruz</a:t>
                </a:r>
                <a:r>
                  <a:rPr lang="en-US" sz="2200" dirty="0"/>
                  <a:t>.  </a:t>
                </a:r>
              </a:p>
              <a:p>
                <a:r>
                  <a:rPr lang="en-US" sz="2200" dirty="0" err="1"/>
                  <a:t>Amaç</a:t>
                </a:r>
                <a:r>
                  <a:rPr lang="en-US" sz="2200" dirty="0"/>
                  <a:t>; </a:t>
                </a:r>
                <a:r>
                  <a:rPr lang="en-US" sz="2200" dirty="0" err="1"/>
                  <a:t>hedefi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tahmin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etmek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değil</a:t>
                </a:r>
                <a:r>
                  <a:rPr lang="en-US" sz="22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n-US" sz="2200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200" i="1" dirty="0" err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sz="2200" dirty="0"/>
                  <a:t> </a:t>
                </a:r>
                <a:r>
                  <a:rPr lang="en-US" sz="2200" dirty="0" err="1"/>
                  <a:t>ölçümleri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hakkında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ilginç</a:t>
                </a:r>
                <a:r>
                  <a:rPr lang="en-US" sz="2200" dirty="0"/>
                  <a:t> </a:t>
                </a:r>
                <a:r>
                  <a:rPr lang="en-US" sz="2200" dirty="0" err="1"/>
                  <a:t>şeyler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keşfetmektir</a:t>
                </a:r>
                <a:r>
                  <a:rPr lang="en-US" sz="2200" dirty="0"/>
                  <a:t>. </a:t>
                </a:r>
              </a:p>
              <a:p>
                <a:r>
                  <a:rPr lang="en-US" sz="2200" dirty="0" err="1"/>
                  <a:t>Denetimsiz</a:t>
                </a:r>
                <a:r>
                  <a:rPr lang="en-US" sz="2200" dirty="0"/>
                  <a:t> </a:t>
                </a:r>
                <a:r>
                  <a:rPr lang="en-US" sz="2200" dirty="0" err="1"/>
                  <a:t>öğrenme</a:t>
                </a:r>
                <a:r>
                  <a:rPr lang="en-US" sz="2200" dirty="0"/>
                  <a:t>, </a:t>
                </a:r>
                <a:r>
                  <a:rPr lang="en-US" sz="2200" dirty="0" err="1"/>
                  <a:t>aşağıdaki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gibi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soruları</a:t>
                </a:r>
                <a:r>
                  <a:rPr lang="en-US" sz="2200" dirty="0"/>
                  <a:t> </a:t>
                </a:r>
                <a:r>
                  <a:rPr lang="en-US" sz="2200" dirty="0" err="1"/>
                  <a:t>yanıtlamak</a:t>
                </a:r>
                <a:r>
                  <a:rPr lang="en-US" sz="2200" dirty="0"/>
                  <a:t> </a:t>
                </a:r>
                <a:r>
                  <a:rPr lang="en-US" sz="2200" dirty="0" err="1"/>
                  <a:t>için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kullanılan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çeşitli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teknikleri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ifade</a:t>
                </a:r>
                <a:r>
                  <a:rPr lang="en-US" sz="2200" dirty="0"/>
                  <a:t> </a:t>
                </a:r>
                <a:r>
                  <a:rPr lang="en-US" sz="2200" dirty="0" err="1"/>
                  <a:t>eder</a:t>
                </a:r>
                <a:r>
                  <a:rPr lang="en-US" sz="2200" dirty="0"/>
                  <a:t>:  </a:t>
                </a:r>
              </a:p>
              <a:p>
                <a:pPr lvl="1"/>
                <a:r>
                  <a:rPr lang="en-US" sz="2200" dirty="0" err="1"/>
                  <a:t>Veriyi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görselleştirmenin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bilgilendirici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bir</a:t>
                </a:r>
                <a:r>
                  <a:rPr lang="en-US" sz="2200" dirty="0"/>
                  <a:t> </a:t>
                </a:r>
                <a:r>
                  <a:rPr lang="en-US" sz="2200" dirty="0" err="1"/>
                  <a:t>yolu</a:t>
                </a:r>
                <a:r>
                  <a:rPr lang="en-US" sz="2200" dirty="0"/>
                  <a:t> var </a:t>
                </a:r>
                <a:r>
                  <a:rPr lang="en-US" sz="2200" dirty="0" err="1"/>
                  <a:t>mı</a:t>
                </a:r>
                <a:r>
                  <a:rPr lang="en-US" sz="2200" dirty="0"/>
                  <a:t>?   </a:t>
                </a:r>
              </a:p>
              <a:p>
                <a:pPr lvl="1"/>
                <a:r>
                  <a:rPr lang="en-US" sz="2200" dirty="0" err="1"/>
                  <a:t>Değişkenler</a:t>
                </a:r>
                <a:r>
                  <a:rPr lang="en-US" sz="2200" dirty="0"/>
                  <a:t> </a:t>
                </a:r>
                <a:r>
                  <a:rPr lang="en-US" sz="2200" dirty="0" err="1"/>
                  <a:t>veya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gözlemler</a:t>
                </a:r>
                <a:r>
                  <a:rPr lang="en-US" sz="2200" dirty="0"/>
                  <a:t> </a:t>
                </a:r>
                <a:r>
                  <a:rPr lang="en-US" sz="2200" dirty="0" err="1"/>
                  <a:t>arasında</a:t>
                </a:r>
                <a:r>
                  <a:rPr lang="en-US" sz="2200" dirty="0"/>
                  <a:t> alt </a:t>
                </a:r>
                <a:r>
                  <a:rPr lang="en-US" sz="2200" dirty="0" err="1"/>
                  <a:t>gruplar</a:t>
                </a:r>
                <a:r>
                  <a:rPr lang="en-US" sz="2200" dirty="0"/>
                  <a:t> (subgroups) </a:t>
                </a:r>
                <a:r>
                  <a:rPr lang="en-US" sz="2200" dirty="0" err="1"/>
                  <a:t>keşfedebilir</a:t>
                </a:r>
                <a:r>
                  <a:rPr lang="en-US" sz="2200" dirty="0"/>
                  <a:t> </a:t>
                </a:r>
                <a:r>
                  <a:rPr lang="en-US" sz="2200" dirty="0" err="1"/>
                  <a:t>miyiz</a:t>
                </a:r>
                <a:r>
                  <a:rPr lang="en-US" sz="2200" dirty="0"/>
                  <a:t>?</a:t>
                </a:r>
                <a:endParaRPr lang="tr-TR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389529"/>
                <a:ext cx="5985387" cy="4921102"/>
              </a:xfrm>
              <a:blipFill>
                <a:blip r:embed="rId2"/>
                <a:stretch>
                  <a:fillRect l="-1120" t="-1611" b="-9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4D4E62-5A52-4F28-BF4F-1060C42410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549" y="1389529"/>
            <a:ext cx="3476625" cy="24024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8267002-6CBF-4C6D-B9C8-D0E662F42C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549" y="3908557"/>
            <a:ext cx="3499989" cy="2380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226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Denetimsiz Öğrenmenin Zorlukları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Denetimsiz öğrenme genellikle çok daha zordur.  </a:t>
            </a:r>
            <a:endParaRPr lang="en-US" dirty="0"/>
          </a:p>
          <a:p>
            <a:r>
              <a:rPr lang="tr-TR" dirty="0"/>
              <a:t>Daha özneldir (subjective) ve analizin "bir yanıtın tahmin edilmesi" gibi basit bir hedefi yoktur.  </a:t>
            </a:r>
            <a:endParaRPr lang="en-US" dirty="0"/>
          </a:p>
          <a:p>
            <a:r>
              <a:rPr lang="tr-TR" dirty="0"/>
              <a:t>Çoğunlukla keşfedici veri analizinin (exploratory data analysis) bir parçası olarak gerçekleştirilir.  </a:t>
            </a:r>
            <a:endParaRPr lang="en-US" dirty="0"/>
          </a:p>
          <a:p>
            <a:r>
              <a:rPr lang="tr-TR" dirty="0"/>
              <a:t>Çapraz doğrulama (cross-validation) yapmak veya sonuçları bağımsız bir veri setinde doğrulamak için evrensel olarak kabul edilmiş bir mekanizma olmadığından, denetimsiz öğrenme yöntemlerinden elde edilen sonuçları değerlendirmek zor olabilir</a:t>
            </a:r>
            <a:r>
              <a:rPr lang="en-US" dirty="0"/>
              <a:t>.</a:t>
            </a:r>
            <a:endParaRPr lang="en-US" sz="22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2733515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Bazı Uygulama Örnekleri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00" dirty="0"/>
              <a:t>Bir </a:t>
            </a:r>
            <a:r>
              <a:rPr lang="en-US" sz="2600" dirty="0" err="1"/>
              <a:t>çevrimiçi</a:t>
            </a:r>
            <a:r>
              <a:rPr lang="en-US" sz="2600" dirty="0"/>
              <a:t> </a:t>
            </a:r>
            <a:r>
              <a:rPr lang="en-US" sz="2600" dirty="0" err="1"/>
              <a:t>alışveriş</a:t>
            </a:r>
            <a:r>
              <a:rPr lang="en-US" sz="2600" dirty="0"/>
              <a:t> </a:t>
            </a:r>
            <a:r>
              <a:rPr lang="en-US" sz="2600" dirty="0" err="1"/>
              <a:t>sitesi</a:t>
            </a:r>
            <a:r>
              <a:rPr lang="en-US" sz="2600" dirty="0"/>
              <a:t>, </a:t>
            </a:r>
            <a:r>
              <a:rPr lang="en-US" sz="2600" dirty="0" err="1"/>
              <a:t>benzer</a:t>
            </a:r>
            <a:r>
              <a:rPr lang="en-US" sz="2600" dirty="0"/>
              <a:t> </a:t>
            </a:r>
            <a:r>
              <a:rPr lang="en-US" sz="2600" dirty="0" err="1"/>
              <a:t>gezinme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satın</a:t>
            </a:r>
            <a:r>
              <a:rPr lang="en-US" sz="2600" dirty="0"/>
              <a:t> alma </a:t>
            </a:r>
            <a:r>
              <a:rPr lang="en-US" sz="2600" dirty="0" err="1"/>
              <a:t>geçmişlerine</a:t>
            </a:r>
            <a:r>
              <a:rPr lang="en-US" sz="2600" dirty="0"/>
              <a:t> </a:t>
            </a:r>
            <a:r>
              <a:rPr lang="en-US" sz="2600" dirty="0" err="1"/>
              <a:t>sahip</a:t>
            </a:r>
            <a:r>
              <a:rPr lang="en-US" sz="2600" dirty="0"/>
              <a:t> </a:t>
            </a:r>
            <a:r>
              <a:rPr lang="en-US" sz="2600" dirty="0" err="1"/>
              <a:t>alışveriş</a:t>
            </a:r>
            <a:r>
              <a:rPr lang="en-US" sz="2600" dirty="0"/>
              <a:t> </a:t>
            </a:r>
            <a:r>
              <a:rPr lang="en-US" sz="2600" dirty="0" err="1"/>
              <a:t>yapanların</a:t>
            </a:r>
            <a:r>
              <a:rPr lang="en-US" sz="2600" dirty="0"/>
              <a:t> </a:t>
            </a:r>
            <a:r>
              <a:rPr lang="en-US" sz="2600" dirty="0" err="1"/>
              <a:t>gruplarını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her </a:t>
            </a:r>
            <a:r>
              <a:rPr lang="en-US" sz="2600" dirty="0" err="1"/>
              <a:t>gruptaki</a:t>
            </a:r>
            <a:r>
              <a:rPr lang="en-US" sz="2600" dirty="0"/>
              <a:t> </a:t>
            </a:r>
            <a:r>
              <a:rPr lang="en-US" sz="2600" dirty="0" err="1"/>
              <a:t>alışveriş</a:t>
            </a:r>
            <a:r>
              <a:rPr lang="en-US" sz="2600" dirty="0"/>
              <a:t> </a:t>
            </a:r>
            <a:r>
              <a:rPr lang="en-US" sz="2600" dirty="0" err="1"/>
              <a:t>yapanların</a:t>
            </a:r>
            <a:r>
              <a:rPr lang="en-US" sz="2600" dirty="0"/>
              <a:t> </a:t>
            </a:r>
            <a:r>
              <a:rPr lang="en-US" sz="2600" dirty="0" err="1"/>
              <a:t>özellikle</a:t>
            </a:r>
            <a:r>
              <a:rPr lang="en-US" sz="2600" dirty="0"/>
              <a:t> </a:t>
            </a:r>
            <a:r>
              <a:rPr lang="en-US" sz="2600" dirty="0" err="1"/>
              <a:t>ilgilendiği</a:t>
            </a:r>
            <a:r>
              <a:rPr lang="en-US" sz="2600" dirty="0"/>
              <a:t> </a:t>
            </a:r>
            <a:r>
              <a:rPr lang="en-US" sz="2600" dirty="0" err="1"/>
              <a:t>ürünleri</a:t>
            </a:r>
            <a:r>
              <a:rPr lang="en-US" sz="2600" dirty="0"/>
              <a:t> </a:t>
            </a:r>
            <a:r>
              <a:rPr lang="en-US" sz="2600" dirty="0" err="1"/>
              <a:t>belirlemeye</a:t>
            </a:r>
            <a:r>
              <a:rPr lang="en-US" sz="2600" dirty="0"/>
              <a:t> </a:t>
            </a:r>
            <a:r>
              <a:rPr lang="en-US" sz="2600" dirty="0" err="1"/>
              <a:t>çalışabilir</a:t>
            </a:r>
            <a:r>
              <a:rPr lang="en-US" sz="2600" dirty="0"/>
              <a:t>. (</a:t>
            </a:r>
            <a:r>
              <a:rPr lang="en-US" sz="2600" dirty="0" err="1"/>
              <a:t>Segmentasyon</a:t>
            </a:r>
            <a:r>
              <a:rPr lang="en-US" sz="2600" dirty="0"/>
              <a:t>)</a:t>
            </a:r>
          </a:p>
          <a:p>
            <a:r>
              <a:rPr lang="en-US" sz="2600" dirty="0" err="1"/>
              <a:t>Daha</a:t>
            </a:r>
            <a:r>
              <a:rPr lang="en-US" sz="2600" dirty="0"/>
              <a:t> </a:t>
            </a:r>
            <a:r>
              <a:rPr lang="en-US" sz="2600" dirty="0" err="1"/>
              <a:t>sonra</a:t>
            </a:r>
            <a:r>
              <a:rPr lang="en-US" sz="2600" dirty="0"/>
              <a:t> </a:t>
            </a:r>
            <a:r>
              <a:rPr lang="en-US" sz="2600" dirty="0" err="1"/>
              <a:t>benzer</a:t>
            </a:r>
            <a:r>
              <a:rPr lang="en-US" sz="2600" dirty="0"/>
              <a:t> </a:t>
            </a:r>
            <a:r>
              <a:rPr lang="en-US" sz="2600" dirty="0" err="1"/>
              <a:t>kişilerin</a:t>
            </a:r>
            <a:r>
              <a:rPr lang="en-US" sz="2600" dirty="0"/>
              <a:t> </a:t>
            </a:r>
            <a:r>
              <a:rPr lang="en-US" sz="2600" dirty="0" err="1"/>
              <a:t>alışveriş</a:t>
            </a:r>
            <a:r>
              <a:rPr lang="en-US" sz="2600" dirty="0"/>
              <a:t> </a:t>
            </a:r>
            <a:r>
              <a:rPr lang="en-US" sz="2600" dirty="0" err="1"/>
              <a:t>geçmişlerine</a:t>
            </a:r>
            <a:r>
              <a:rPr lang="en-US" sz="2600" dirty="0"/>
              <a:t> </a:t>
            </a:r>
            <a:r>
              <a:rPr lang="en-US" sz="2600" dirty="0" err="1"/>
              <a:t>dayanarak</a:t>
            </a:r>
            <a:r>
              <a:rPr lang="en-US" sz="2600" dirty="0"/>
              <a:t>, </a:t>
            </a:r>
            <a:r>
              <a:rPr lang="en-US" sz="2600" dirty="0" err="1"/>
              <a:t>bireysel</a:t>
            </a:r>
            <a:r>
              <a:rPr lang="en-US" sz="2600" dirty="0"/>
              <a:t>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müşteriye</a:t>
            </a:r>
            <a:r>
              <a:rPr lang="en-US" sz="2600" dirty="0"/>
              <a:t> </a:t>
            </a:r>
            <a:r>
              <a:rPr lang="en-US" sz="2600" dirty="0" err="1"/>
              <a:t>muhtemelen</a:t>
            </a:r>
            <a:r>
              <a:rPr lang="en-US" sz="2600" dirty="0"/>
              <a:t> </a:t>
            </a:r>
            <a:r>
              <a:rPr lang="en-US" sz="2600" dirty="0" err="1"/>
              <a:t>ilgisini</a:t>
            </a:r>
            <a:r>
              <a:rPr lang="en-US" sz="2600" dirty="0"/>
              <a:t> </a:t>
            </a:r>
            <a:r>
              <a:rPr lang="en-US" sz="2600" dirty="0" err="1"/>
              <a:t>çekecek</a:t>
            </a:r>
            <a:r>
              <a:rPr lang="en-US" sz="2600" dirty="0"/>
              <a:t> </a:t>
            </a:r>
            <a:r>
              <a:rPr lang="en-US" sz="2600" dirty="0" err="1"/>
              <a:t>ürünler</a:t>
            </a:r>
            <a:r>
              <a:rPr lang="en-US" sz="2600" dirty="0"/>
              <a:t> </a:t>
            </a:r>
            <a:r>
              <a:rPr lang="en-US" sz="2600" dirty="0" err="1"/>
              <a:t>öncelikli</a:t>
            </a:r>
            <a:r>
              <a:rPr lang="en-US" sz="2600" dirty="0"/>
              <a:t> </a:t>
            </a:r>
            <a:r>
              <a:rPr lang="en-US" sz="2600" dirty="0" err="1"/>
              <a:t>olarak</a:t>
            </a:r>
            <a:r>
              <a:rPr lang="en-US" sz="2600" dirty="0"/>
              <a:t> </a:t>
            </a:r>
            <a:r>
              <a:rPr lang="en-US" sz="2600" dirty="0" err="1"/>
              <a:t>gösterilebilir</a:t>
            </a:r>
            <a:r>
              <a:rPr lang="en-US" sz="2600" dirty="0"/>
              <a:t>.  </a:t>
            </a:r>
          </a:p>
          <a:p>
            <a:r>
              <a:rPr lang="en-US" sz="2600" dirty="0"/>
              <a:t>Bir </a:t>
            </a:r>
            <a:r>
              <a:rPr lang="en-US" sz="2600" dirty="0" err="1"/>
              <a:t>arama</a:t>
            </a:r>
            <a:r>
              <a:rPr lang="en-US" sz="2600" dirty="0"/>
              <a:t> </a:t>
            </a:r>
            <a:r>
              <a:rPr lang="en-US" sz="2600" dirty="0" err="1"/>
              <a:t>motoru</a:t>
            </a:r>
            <a:r>
              <a:rPr lang="en-US" sz="2600" dirty="0"/>
              <a:t>, </a:t>
            </a:r>
            <a:r>
              <a:rPr lang="en-US" sz="2600" dirty="0" err="1"/>
              <a:t>benzer</a:t>
            </a:r>
            <a:r>
              <a:rPr lang="en-US" sz="2600" dirty="0"/>
              <a:t> </a:t>
            </a:r>
            <a:r>
              <a:rPr lang="en-US" sz="2600" dirty="0" err="1"/>
              <a:t>arama</a:t>
            </a:r>
            <a:r>
              <a:rPr lang="en-US" sz="2600" dirty="0"/>
              <a:t> </a:t>
            </a:r>
            <a:r>
              <a:rPr lang="en-US" sz="2600" dirty="0" err="1"/>
              <a:t>kalıplarına</a:t>
            </a:r>
            <a:r>
              <a:rPr lang="en-US" sz="2600" dirty="0"/>
              <a:t> </a:t>
            </a:r>
            <a:r>
              <a:rPr lang="en-US" sz="2600" dirty="0" err="1"/>
              <a:t>sahip</a:t>
            </a:r>
            <a:r>
              <a:rPr lang="en-US" sz="2600" dirty="0"/>
              <a:t> </a:t>
            </a:r>
            <a:r>
              <a:rPr lang="en-US" sz="2600" dirty="0" err="1"/>
              <a:t>diğer</a:t>
            </a:r>
            <a:r>
              <a:rPr lang="en-US" sz="2600" dirty="0"/>
              <a:t> </a:t>
            </a:r>
            <a:r>
              <a:rPr lang="en-US" sz="2600" dirty="0" err="1"/>
              <a:t>kişilerin</a:t>
            </a:r>
            <a:r>
              <a:rPr lang="en-US" sz="2600" dirty="0"/>
              <a:t> </a:t>
            </a:r>
            <a:r>
              <a:rPr lang="en-US" sz="2600" dirty="0" err="1"/>
              <a:t>tıklama</a:t>
            </a:r>
            <a:r>
              <a:rPr lang="en-US" sz="2600" dirty="0"/>
              <a:t> </a:t>
            </a:r>
            <a:r>
              <a:rPr lang="en-US" sz="2600" dirty="0" err="1"/>
              <a:t>geçmişlerine</a:t>
            </a:r>
            <a:r>
              <a:rPr lang="en-US" sz="2600" dirty="0"/>
              <a:t> </a:t>
            </a:r>
            <a:r>
              <a:rPr lang="en-US" sz="2600" dirty="0" err="1"/>
              <a:t>dayanarak</a:t>
            </a:r>
            <a:r>
              <a:rPr lang="en-US" sz="2600" dirty="0"/>
              <a:t>, </a:t>
            </a:r>
            <a:r>
              <a:rPr lang="en-US" sz="2600" dirty="0" err="1"/>
              <a:t>belirli</a:t>
            </a:r>
            <a:r>
              <a:rPr lang="en-US" sz="2600" dirty="0"/>
              <a:t> </a:t>
            </a:r>
            <a:r>
              <a:rPr lang="en-US" sz="2600" dirty="0" err="1"/>
              <a:t>bir</a:t>
            </a:r>
            <a:r>
              <a:rPr lang="en-US" sz="2600" dirty="0"/>
              <a:t> </a:t>
            </a:r>
            <a:r>
              <a:rPr lang="en-US" sz="2600" dirty="0" err="1"/>
              <a:t>kişiye</a:t>
            </a:r>
            <a:r>
              <a:rPr lang="en-US" sz="2600" dirty="0"/>
              <a:t> hangi </a:t>
            </a:r>
            <a:r>
              <a:rPr lang="en-US" sz="2600" dirty="0" err="1"/>
              <a:t>arama</a:t>
            </a:r>
            <a:r>
              <a:rPr lang="en-US" sz="2600" dirty="0"/>
              <a:t> </a:t>
            </a:r>
            <a:r>
              <a:rPr lang="en-US" sz="2600" dirty="0" err="1"/>
              <a:t>sonuçlarının</a:t>
            </a:r>
            <a:r>
              <a:rPr lang="en-US" sz="2600" dirty="0"/>
              <a:t> </a:t>
            </a:r>
            <a:r>
              <a:rPr lang="en-US" sz="2600" dirty="0" err="1"/>
              <a:t>gösterileceğini</a:t>
            </a:r>
            <a:r>
              <a:rPr lang="en-US" sz="2600" dirty="0"/>
              <a:t> </a:t>
            </a:r>
            <a:r>
              <a:rPr lang="en-US" sz="2600" dirty="0" err="1"/>
              <a:t>seçebilir</a:t>
            </a:r>
            <a:r>
              <a:rPr lang="en-US" sz="2600" dirty="0"/>
              <a:t>.  </a:t>
            </a:r>
          </a:p>
          <a:p>
            <a:r>
              <a:rPr lang="en-US" sz="2600" dirty="0"/>
              <a:t>Twitter </a:t>
            </a:r>
            <a:r>
              <a:rPr lang="en-US" sz="2600" dirty="0" err="1"/>
              <a:t>kullanıcıları</a:t>
            </a:r>
            <a:r>
              <a:rPr lang="en-US" sz="2600" dirty="0"/>
              <a:t>, </a:t>
            </a:r>
            <a:r>
              <a:rPr lang="en-US" sz="2600" dirty="0" err="1"/>
              <a:t>belirli</a:t>
            </a:r>
            <a:r>
              <a:rPr lang="en-US" sz="2600" dirty="0"/>
              <a:t> </a:t>
            </a:r>
            <a:r>
              <a:rPr lang="en-US" sz="2600" dirty="0" err="1"/>
              <a:t>olaylara</a:t>
            </a:r>
            <a:r>
              <a:rPr lang="en-US" sz="2600" dirty="0"/>
              <a:t> </a:t>
            </a:r>
            <a:r>
              <a:rPr lang="en-US" sz="2600" dirty="0" err="1"/>
              <a:t>verdikleri</a:t>
            </a:r>
            <a:r>
              <a:rPr lang="en-US" sz="2600" dirty="0"/>
              <a:t> </a:t>
            </a:r>
            <a:r>
              <a:rPr lang="en-US" sz="2600" dirty="0" err="1"/>
              <a:t>tepkilere</a:t>
            </a:r>
            <a:r>
              <a:rPr lang="en-US" sz="2600" dirty="0"/>
              <a:t> </a:t>
            </a:r>
            <a:r>
              <a:rPr lang="en-US" sz="2600" dirty="0" err="1"/>
              <a:t>göre</a:t>
            </a:r>
            <a:r>
              <a:rPr lang="en-US" sz="2600" dirty="0"/>
              <a:t> </a:t>
            </a:r>
            <a:r>
              <a:rPr lang="en-US" sz="2600" dirty="0" err="1"/>
              <a:t>gruplandırılabilir</a:t>
            </a:r>
            <a:r>
              <a:rPr lang="en-US" sz="2600" dirty="0"/>
              <a:t>.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3174395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Neden Geleneksel Segmentasyon Yetmez?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00" dirty="0" err="1"/>
              <a:t>Geleneksel</a:t>
            </a:r>
            <a:r>
              <a:rPr lang="en-US" sz="2600" dirty="0"/>
              <a:t> </a:t>
            </a:r>
            <a:r>
              <a:rPr lang="en-US" sz="2600" dirty="0" err="1"/>
              <a:t>Pazarlama</a:t>
            </a:r>
            <a:r>
              <a:rPr lang="en-US" sz="2600" dirty="0"/>
              <a:t>: "25-35 </a:t>
            </a:r>
            <a:r>
              <a:rPr lang="en-US" sz="2600" dirty="0" err="1"/>
              <a:t>yaş</a:t>
            </a:r>
            <a:r>
              <a:rPr lang="en-US" sz="2600" dirty="0"/>
              <a:t> </a:t>
            </a:r>
            <a:r>
              <a:rPr lang="en-US" sz="2600" dirty="0" err="1"/>
              <a:t>arası</a:t>
            </a:r>
            <a:r>
              <a:rPr lang="en-US" sz="2600" dirty="0"/>
              <a:t>, </a:t>
            </a:r>
            <a:r>
              <a:rPr lang="en-US" sz="2600" dirty="0" err="1"/>
              <a:t>büyükşehirde</a:t>
            </a:r>
            <a:r>
              <a:rPr lang="en-US" sz="2600" dirty="0"/>
              <a:t> </a:t>
            </a:r>
            <a:r>
              <a:rPr lang="en-US" sz="2600" dirty="0" err="1"/>
              <a:t>yaşayan</a:t>
            </a:r>
            <a:r>
              <a:rPr lang="en-US" sz="2600" dirty="0"/>
              <a:t> </a:t>
            </a:r>
            <a:r>
              <a:rPr lang="en-US" sz="2600" dirty="0" err="1"/>
              <a:t>müşteriler</a:t>
            </a:r>
            <a:r>
              <a:rPr lang="en-US" sz="2600" dirty="0"/>
              <a:t>" (</a:t>
            </a:r>
            <a:r>
              <a:rPr lang="en-US" sz="2600" dirty="0" err="1"/>
              <a:t>Sadece</a:t>
            </a:r>
            <a:r>
              <a:rPr lang="en-US" sz="2600" dirty="0"/>
              <a:t> </a:t>
            </a:r>
            <a:r>
              <a:rPr lang="en-US" sz="2600" dirty="0" err="1"/>
              <a:t>Demografi</a:t>
            </a:r>
            <a:r>
              <a:rPr lang="en-US" sz="2600" dirty="0"/>
              <a:t>).</a:t>
            </a:r>
          </a:p>
          <a:p>
            <a:r>
              <a:rPr lang="en-US" sz="2600" dirty="0"/>
              <a:t>30 </a:t>
            </a:r>
            <a:r>
              <a:rPr lang="en-US" sz="2600" dirty="0" err="1"/>
              <a:t>yaşında</a:t>
            </a:r>
            <a:r>
              <a:rPr lang="en-US" sz="2600" dirty="0"/>
              <a:t> </a:t>
            </a:r>
            <a:r>
              <a:rPr lang="en-US" sz="2600" dirty="0" err="1"/>
              <a:t>iki</a:t>
            </a:r>
            <a:r>
              <a:rPr lang="en-US" sz="2600" dirty="0"/>
              <a:t> </a:t>
            </a:r>
            <a:r>
              <a:rPr lang="en-US" sz="2600" dirty="0" err="1"/>
              <a:t>müşteri</a:t>
            </a:r>
            <a:r>
              <a:rPr lang="en-US" sz="2600" dirty="0"/>
              <a:t> </a:t>
            </a:r>
            <a:r>
              <a:rPr lang="en-US" sz="2600" dirty="0" err="1"/>
              <a:t>düşünün</a:t>
            </a:r>
            <a:r>
              <a:rPr lang="en-US" sz="2600" dirty="0"/>
              <a:t>. Biri </a:t>
            </a:r>
            <a:r>
              <a:rPr lang="en-US" sz="2600" dirty="0" err="1"/>
              <a:t>evli</a:t>
            </a:r>
            <a:r>
              <a:rPr lang="en-US" sz="2600" dirty="0"/>
              <a:t>, </a:t>
            </a:r>
            <a:r>
              <a:rPr lang="en-US" sz="2600" dirty="0" err="1"/>
              <a:t>indirim</a:t>
            </a:r>
            <a:r>
              <a:rPr lang="en-US" sz="2600" dirty="0"/>
              <a:t> </a:t>
            </a:r>
            <a:r>
              <a:rPr lang="en-US" sz="2600" dirty="0" err="1"/>
              <a:t>kovalıyor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</a:t>
            </a:r>
            <a:r>
              <a:rPr lang="en-US" sz="2600" dirty="0" err="1"/>
              <a:t>sadece</a:t>
            </a:r>
            <a:r>
              <a:rPr lang="en-US" sz="2600" dirty="0"/>
              <a:t> </a:t>
            </a:r>
            <a:r>
              <a:rPr lang="en-US" sz="2600" dirty="0" err="1"/>
              <a:t>şarj</a:t>
            </a:r>
            <a:r>
              <a:rPr lang="en-US" sz="2600" dirty="0"/>
              <a:t> </a:t>
            </a:r>
            <a:r>
              <a:rPr lang="en-US" sz="2600" dirty="0" err="1"/>
              <a:t>kablosu</a:t>
            </a:r>
            <a:r>
              <a:rPr lang="en-US" sz="2600" dirty="0"/>
              <a:t> </a:t>
            </a:r>
            <a:r>
              <a:rPr lang="en-US" sz="2600" dirty="0" err="1"/>
              <a:t>gibi</a:t>
            </a:r>
            <a:r>
              <a:rPr lang="en-US" sz="2600" dirty="0"/>
              <a:t> </a:t>
            </a:r>
            <a:r>
              <a:rPr lang="en-US" sz="2600" dirty="0" err="1"/>
              <a:t>ucuz</a:t>
            </a:r>
            <a:r>
              <a:rPr lang="en-US" sz="2600" dirty="0"/>
              <a:t> </a:t>
            </a:r>
            <a:r>
              <a:rPr lang="en-US" sz="2600" dirty="0" err="1"/>
              <a:t>aksesuarlar</a:t>
            </a:r>
            <a:r>
              <a:rPr lang="en-US" sz="2600" dirty="0"/>
              <a:t> </a:t>
            </a:r>
            <a:r>
              <a:rPr lang="en-US" sz="2600" dirty="0" err="1"/>
              <a:t>arıyor</a:t>
            </a:r>
            <a:r>
              <a:rPr lang="en-US" sz="2600" dirty="0"/>
              <a:t>. </a:t>
            </a:r>
            <a:r>
              <a:rPr lang="en-US" sz="2600" dirty="0" err="1"/>
              <a:t>Diğeri</a:t>
            </a:r>
            <a:r>
              <a:rPr lang="en-US" sz="2600" dirty="0"/>
              <a:t> </a:t>
            </a:r>
            <a:r>
              <a:rPr lang="en-US" sz="2600" dirty="0" err="1"/>
              <a:t>bekar</a:t>
            </a:r>
            <a:r>
              <a:rPr lang="en-US" sz="2600" dirty="0"/>
              <a:t>, </a:t>
            </a:r>
            <a:r>
              <a:rPr lang="en-US" sz="2600" dirty="0" err="1"/>
              <a:t>yüksek</a:t>
            </a:r>
            <a:r>
              <a:rPr lang="en-US" sz="2600" dirty="0"/>
              <a:t> </a:t>
            </a:r>
            <a:r>
              <a:rPr lang="en-US" sz="2600" dirty="0" err="1"/>
              <a:t>gelirli</a:t>
            </a:r>
            <a:r>
              <a:rPr lang="en-US" sz="2600" dirty="0"/>
              <a:t> </a:t>
            </a:r>
            <a:r>
              <a:rPr lang="en-US" sz="2600" dirty="0" err="1"/>
              <a:t>ve</a:t>
            </a:r>
            <a:r>
              <a:rPr lang="en-US" sz="2600" dirty="0"/>
              <a:t> Premium Gaming Laptop </a:t>
            </a:r>
            <a:r>
              <a:rPr lang="en-US" sz="2600" dirty="0" err="1"/>
              <a:t>alıyor</a:t>
            </a:r>
            <a:r>
              <a:rPr lang="en-US" sz="2600" dirty="0"/>
              <a:t>. </a:t>
            </a:r>
          </a:p>
          <a:p>
            <a:r>
              <a:rPr lang="en-US" sz="2600" dirty="0" err="1"/>
              <a:t>İkisine</a:t>
            </a:r>
            <a:r>
              <a:rPr lang="en-US" sz="2600" dirty="0"/>
              <a:t> </a:t>
            </a:r>
            <a:r>
              <a:rPr lang="en-US" sz="2600" dirty="0" err="1"/>
              <a:t>aynı</a:t>
            </a:r>
            <a:r>
              <a:rPr lang="en-US" sz="2600" dirty="0"/>
              <a:t> "</a:t>
            </a:r>
            <a:r>
              <a:rPr lang="en-US" sz="2600" dirty="0" err="1"/>
              <a:t>Teknoloji</a:t>
            </a:r>
            <a:r>
              <a:rPr lang="en-US" sz="2600" dirty="0"/>
              <a:t> </a:t>
            </a:r>
            <a:r>
              <a:rPr lang="en-US" sz="2600" dirty="0" err="1"/>
              <a:t>Kampanyası</a:t>
            </a:r>
            <a:r>
              <a:rPr lang="en-US" sz="2600" dirty="0"/>
              <a:t>" </a:t>
            </a:r>
            <a:r>
              <a:rPr lang="en-US" sz="2600" dirty="0" err="1"/>
              <a:t>mesajını</a:t>
            </a:r>
            <a:r>
              <a:rPr lang="en-US" sz="2600" dirty="0"/>
              <a:t> </a:t>
            </a:r>
            <a:r>
              <a:rPr lang="en-US" sz="2600" dirty="0" err="1"/>
              <a:t>atmak</a:t>
            </a:r>
            <a:r>
              <a:rPr lang="en-US" sz="2600" dirty="0"/>
              <a:t> </a:t>
            </a:r>
            <a:r>
              <a:rPr lang="en-US" sz="2600" dirty="0" err="1"/>
              <a:t>şirketi</a:t>
            </a:r>
            <a:r>
              <a:rPr lang="en-US" sz="2600" dirty="0"/>
              <a:t> </a:t>
            </a:r>
            <a:r>
              <a:rPr lang="en-US" sz="2600" dirty="0" err="1"/>
              <a:t>zarara</a:t>
            </a:r>
            <a:r>
              <a:rPr lang="en-US" sz="2600" dirty="0"/>
              <a:t> </a:t>
            </a:r>
            <a:r>
              <a:rPr lang="en-US" sz="2600" dirty="0" err="1"/>
              <a:t>sokar</a:t>
            </a:r>
            <a:r>
              <a:rPr lang="en-US" sz="2600" dirty="0"/>
              <a:t>. </a:t>
            </a:r>
          </a:p>
          <a:p>
            <a:r>
              <a:rPr lang="en-US" sz="2600" dirty="0" err="1"/>
              <a:t>Sadece</a:t>
            </a:r>
            <a:r>
              <a:rPr lang="en-US" sz="2600" dirty="0"/>
              <a:t> </a:t>
            </a:r>
            <a:r>
              <a:rPr lang="en-US" sz="2600" dirty="0" err="1"/>
              <a:t>yaşa</a:t>
            </a:r>
            <a:r>
              <a:rPr lang="en-US" sz="2600" dirty="0"/>
              <a:t> </a:t>
            </a:r>
            <a:r>
              <a:rPr lang="en-US" sz="2600" dirty="0" err="1"/>
              <a:t>değil</a:t>
            </a:r>
            <a:r>
              <a:rPr lang="en-US" sz="2600" dirty="0"/>
              <a:t>; </a:t>
            </a:r>
            <a:r>
              <a:rPr lang="en-US" sz="2600" dirty="0" err="1"/>
              <a:t>gelir</a:t>
            </a:r>
            <a:r>
              <a:rPr lang="en-US" sz="2600" dirty="0"/>
              <a:t>, </a:t>
            </a:r>
            <a:r>
              <a:rPr lang="en-US" sz="2600" dirty="0" err="1"/>
              <a:t>uygulama</a:t>
            </a:r>
            <a:r>
              <a:rPr lang="en-US" sz="2600" dirty="0"/>
              <a:t> </a:t>
            </a:r>
            <a:r>
              <a:rPr lang="en-US" sz="2600" dirty="0" err="1"/>
              <a:t>ziyareti</a:t>
            </a:r>
            <a:r>
              <a:rPr lang="en-US" sz="2600" dirty="0"/>
              <a:t>, </a:t>
            </a:r>
            <a:r>
              <a:rPr lang="en-US" sz="2600" dirty="0" err="1"/>
              <a:t>bilgisayar</a:t>
            </a:r>
            <a:r>
              <a:rPr lang="en-US" sz="2600" dirty="0"/>
              <a:t> </a:t>
            </a:r>
            <a:r>
              <a:rPr lang="en-US" sz="2600" dirty="0" err="1"/>
              <a:t>harcaması</a:t>
            </a:r>
            <a:r>
              <a:rPr lang="en-US" sz="2600" dirty="0"/>
              <a:t>, </a:t>
            </a:r>
            <a:r>
              <a:rPr lang="en-US" sz="2600" dirty="0" err="1"/>
              <a:t>akıllı</a:t>
            </a:r>
            <a:r>
              <a:rPr lang="en-US" sz="2600" dirty="0"/>
              <a:t> </a:t>
            </a:r>
            <a:r>
              <a:rPr lang="en-US" sz="2600" dirty="0" err="1"/>
              <a:t>telefon</a:t>
            </a:r>
            <a:r>
              <a:rPr lang="en-US" sz="2600" dirty="0"/>
              <a:t> </a:t>
            </a:r>
            <a:r>
              <a:rPr lang="en-US" sz="2600" dirty="0" err="1"/>
              <a:t>harcaması</a:t>
            </a:r>
            <a:r>
              <a:rPr lang="en-US" sz="2600" dirty="0"/>
              <a:t> </a:t>
            </a:r>
            <a:r>
              <a:rPr lang="en-US" sz="2600" dirty="0" err="1"/>
              <a:t>gibi</a:t>
            </a:r>
            <a:r>
              <a:rPr lang="en-US" sz="2600" dirty="0"/>
              <a:t> </a:t>
            </a:r>
            <a:r>
              <a:rPr lang="en-US" sz="2600" dirty="0" err="1"/>
              <a:t>onlarca</a:t>
            </a:r>
            <a:r>
              <a:rPr lang="en-US" sz="2600" dirty="0"/>
              <a:t> </a:t>
            </a:r>
            <a:r>
              <a:rPr lang="en-US" sz="2600" dirty="0" err="1"/>
              <a:t>farklı</a:t>
            </a:r>
            <a:r>
              <a:rPr lang="en-US" sz="2600" dirty="0"/>
              <a:t> </a:t>
            </a:r>
            <a:r>
              <a:rPr lang="en-US" sz="2600" dirty="0" err="1"/>
              <a:t>boyuta</a:t>
            </a:r>
            <a:r>
              <a:rPr lang="en-US" sz="2600" dirty="0"/>
              <a:t> (feature) </a:t>
            </a:r>
            <a:r>
              <a:rPr lang="en-US" sz="2600" dirty="0" err="1"/>
              <a:t>aynı</a:t>
            </a:r>
            <a:r>
              <a:rPr lang="en-US" sz="2600" dirty="0"/>
              <a:t> </a:t>
            </a:r>
            <a:r>
              <a:rPr lang="en-US" sz="2600" dirty="0" err="1"/>
              <a:t>anda</a:t>
            </a:r>
            <a:r>
              <a:rPr lang="en-US" sz="2600" dirty="0"/>
              <a:t> </a:t>
            </a:r>
            <a:r>
              <a:rPr lang="en-US" sz="2600" dirty="0" err="1"/>
              <a:t>bakarak</a:t>
            </a:r>
            <a:r>
              <a:rPr lang="en-US" sz="2600" dirty="0"/>
              <a:t> </a:t>
            </a:r>
            <a:r>
              <a:rPr lang="en-US" sz="2600" dirty="0" err="1"/>
              <a:t>matematiksel</a:t>
            </a:r>
            <a:r>
              <a:rPr lang="en-US" sz="2600" dirty="0"/>
              <a:t> </a:t>
            </a:r>
            <a:r>
              <a:rPr lang="en-US" sz="2600" dirty="0" err="1"/>
              <a:t>kümeler</a:t>
            </a:r>
            <a:r>
              <a:rPr lang="en-US" sz="2600" dirty="0"/>
              <a:t> </a:t>
            </a:r>
            <a:r>
              <a:rPr lang="en-US" sz="2600" dirty="0" err="1"/>
              <a:t>oluşturmalıyız</a:t>
            </a:r>
            <a:r>
              <a:rPr lang="en-US" sz="26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34383520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err="1"/>
              <a:t>Kümeleme</a:t>
            </a:r>
            <a:r>
              <a:rPr lang="en-US" sz="4000" dirty="0"/>
              <a:t> (</a:t>
            </a:r>
            <a:r>
              <a:rPr lang="tr-TR" sz="4000" dirty="0"/>
              <a:t>Clustering</a:t>
            </a:r>
            <a:r>
              <a:rPr lang="en-US" sz="4000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89529"/>
            <a:ext cx="5936227" cy="4921102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err="1"/>
              <a:t>Kümeleme</a:t>
            </a:r>
            <a:r>
              <a:rPr lang="en-US" sz="2400" dirty="0"/>
              <a:t>,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veri</a:t>
            </a:r>
            <a:r>
              <a:rPr lang="en-US" sz="2400" dirty="0"/>
              <a:t> </a:t>
            </a:r>
            <a:r>
              <a:rPr lang="en-US" sz="2400" dirty="0" err="1"/>
              <a:t>setindeki</a:t>
            </a:r>
            <a:r>
              <a:rPr lang="en-US" sz="2400" dirty="0"/>
              <a:t> alt </a:t>
            </a:r>
            <a:r>
              <a:rPr lang="en-US" sz="2400" dirty="0" err="1"/>
              <a:t>grupları</a:t>
            </a:r>
            <a:r>
              <a:rPr lang="en-US" sz="2400" dirty="0"/>
              <a:t> </a:t>
            </a:r>
            <a:r>
              <a:rPr lang="en-US" sz="2400" dirty="0" err="1"/>
              <a:t>veya</a:t>
            </a:r>
            <a:r>
              <a:rPr lang="en-US" sz="2400" dirty="0"/>
              <a:t> </a:t>
            </a:r>
            <a:r>
              <a:rPr lang="en-US" sz="2400" dirty="0" err="1"/>
              <a:t>kümeleri</a:t>
            </a:r>
            <a:r>
              <a:rPr lang="en-US" sz="2400" dirty="0"/>
              <a:t> </a:t>
            </a:r>
            <a:r>
              <a:rPr lang="en-US" sz="2400" dirty="0" err="1"/>
              <a:t>bulmaya</a:t>
            </a:r>
            <a:r>
              <a:rPr lang="en-US" sz="2400" dirty="0"/>
              <a:t> </a:t>
            </a:r>
            <a:r>
              <a:rPr lang="en-US" sz="2400" dirty="0" err="1"/>
              <a:t>yönelik</a:t>
            </a:r>
            <a:r>
              <a:rPr lang="en-US" sz="2400" dirty="0"/>
              <a:t> </a:t>
            </a:r>
            <a:r>
              <a:rPr lang="en-US" sz="2400" dirty="0" err="1"/>
              <a:t>çok</a:t>
            </a:r>
            <a:r>
              <a:rPr lang="en-US" sz="2400" dirty="0"/>
              <a:t> </a:t>
            </a:r>
            <a:r>
              <a:rPr lang="en-US" sz="2400" dirty="0" err="1"/>
              <a:t>geniş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teknikler</a:t>
            </a:r>
            <a:r>
              <a:rPr lang="en-US" sz="2400" dirty="0"/>
              <a:t> </a:t>
            </a:r>
            <a:r>
              <a:rPr lang="en-US" sz="2400" dirty="0" err="1"/>
              <a:t>dizisini</a:t>
            </a:r>
            <a:r>
              <a:rPr lang="en-US" sz="2400" dirty="0"/>
              <a:t> </a:t>
            </a:r>
            <a:r>
              <a:rPr lang="en-US" sz="2400" dirty="0" err="1"/>
              <a:t>ifade</a:t>
            </a:r>
            <a:r>
              <a:rPr lang="en-US" sz="2400" dirty="0"/>
              <a:t> </a:t>
            </a:r>
            <a:r>
              <a:rPr lang="en-US" sz="2400" dirty="0" err="1"/>
              <a:t>eder</a:t>
            </a:r>
            <a:r>
              <a:rPr lang="en-US" sz="2400" dirty="0"/>
              <a:t>.  </a:t>
            </a:r>
          </a:p>
          <a:p>
            <a:r>
              <a:rPr lang="en-US" sz="2400" dirty="0"/>
              <a:t>Bir </a:t>
            </a:r>
            <a:r>
              <a:rPr lang="en-US" sz="2400" dirty="0" err="1"/>
              <a:t>veri</a:t>
            </a:r>
            <a:r>
              <a:rPr lang="en-US" sz="2400" dirty="0"/>
              <a:t> </a:t>
            </a:r>
            <a:r>
              <a:rPr lang="en-US" sz="2400" dirty="0" err="1"/>
              <a:t>setindeki</a:t>
            </a:r>
            <a:r>
              <a:rPr lang="en-US" sz="2400" dirty="0"/>
              <a:t> </a:t>
            </a:r>
            <a:r>
              <a:rPr lang="en-US" sz="2400" dirty="0" err="1"/>
              <a:t>gözlemleri</a:t>
            </a:r>
            <a:r>
              <a:rPr lang="en-US" sz="2400" dirty="0"/>
              <a:t> </a:t>
            </a:r>
            <a:r>
              <a:rPr lang="en-US" sz="2400" dirty="0" err="1"/>
              <a:t>kümelediğimizde</a:t>
            </a:r>
            <a:r>
              <a:rPr lang="en-US" sz="2400" dirty="0"/>
              <a:t>, </a:t>
            </a:r>
            <a:r>
              <a:rPr lang="en-US" sz="2400" dirty="0" err="1"/>
              <a:t>onları</a:t>
            </a:r>
            <a:r>
              <a:rPr lang="en-US" sz="2400" dirty="0"/>
              <a:t> </a:t>
            </a:r>
            <a:r>
              <a:rPr lang="en-US" sz="2400" dirty="0" err="1"/>
              <a:t>birbirinden</a:t>
            </a:r>
            <a:r>
              <a:rPr lang="en-US" sz="2400" dirty="0"/>
              <a:t> </a:t>
            </a:r>
            <a:r>
              <a:rPr lang="en-US" sz="2400" dirty="0" err="1"/>
              <a:t>farklı</a:t>
            </a:r>
            <a:r>
              <a:rPr lang="en-US" sz="2400" dirty="0"/>
              <a:t> </a:t>
            </a:r>
            <a:r>
              <a:rPr lang="en-US" sz="2400" dirty="0" err="1"/>
              <a:t>gruplara</a:t>
            </a:r>
            <a:r>
              <a:rPr lang="en-US" sz="2400" dirty="0"/>
              <a:t> </a:t>
            </a:r>
            <a:r>
              <a:rPr lang="en-US" sz="2400" dirty="0" err="1"/>
              <a:t>ayırmayı</a:t>
            </a:r>
            <a:r>
              <a:rPr lang="en-US" sz="2400" dirty="0"/>
              <a:t> </a:t>
            </a:r>
            <a:r>
              <a:rPr lang="en-US" sz="2400" dirty="0" err="1"/>
              <a:t>hedefleriz</a:t>
            </a:r>
            <a:r>
              <a:rPr lang="en-US" sz="2400" dirty="0"/>
              <a:t>.  </a:t>
            </a:r>
          </a:p>
          <a:p>
            <a:r>
              <a:rPr lang="en-US" sz="2400" dirty="0" err="1"/>
              <a:t>Aynı</a:t>
            </a:r>
            <a:r>
              <a:rPr lang="en-US" sz="2400" dirty="0"/>
              <a:t> </a:t>
            </a:r>
            <a:r>
              <a:rPr lang="en-US" sz="2400" dirty="0" err="1"/>
              <a:t>grup</a:t>
            </a:r>
            <a:r>
              <a:rPr lang="en-US" sz="2400" dirty="0"/>
              <a:t> </a:t>
            </a:r>
            <a:r>
              <a:rPr lang="en-US" sz="2400" dirty="0" err="1"/>
              <a:t>içindeki</a:t>
            </a:r>
            <a:r>
              <a:rPr lang="en-US" sz="2400" dirty="0"/>
              <a:t> </a:t>
            </a:r>
            <a:r>
              <a:rPr lang="en-US" sz="2400" dirty="0" err="1"/>
              <a:t>gözlemler</a:t>
            </a:r>
            <a:r>
              <a:rPr lang="en-US" sz="2400" dirty="0"/>
              <a:t> </a:t>
            </a:r>
            <a:r>
              <a:rPr lang="en-US" sz="2400" dirty="0" err="1"/>
              <a:t>birbirine</a:t>
            </a:r>
            <a:r>
              <a:rPr lang="en-US" sz="2400" dirty="0"/>
              <a:t> </a:t>
            </a:r>
            <a:r>
              <a:rPr lang="en-US" sz="2400" dirty="0" err="1"/>
              <a:t>oldukça</a:t>
            </a:r>
            <a:r>
              <a:rPr lang="en-US" sz="2400" dirty="0"/>
              <a:t> </a:t>
            </a:r>
            <a:r>
              <a:rPr lang="en-US" sz="2400" dirty="0" err="1"/>
              <a:t>benzer</a:t>
            </a:r>
            <a:r>
              <a:rPr lang="en-US" sz="2400" dirty="0"/>
              <a:t> </a:t>
            </a:r>
            <a:r>
              <a:rPr lang="en-US" sz="2400" dirty="0" err="1"/>
              <a:t>olmalı</a:t>
            </a:r>
            <a:r>
              <a:rPr lang="en-US" sz="2400" dirty="0"/>
              <a:t>, </a:t>
            </a:r>
            <a:r>
              <a:rPr lang="en-US" sz="2400" dirty="0" err="1"/>
              <a:t>farklı</a:t>
            </a:r>
            <a:r>
              <a:rPr lang="en-US" sz="2400" dirty="0"/>
              <a:t> </a:t>
            </a:r>
            <a:r>
              <a:rPr lang="en-US" sz="2400" dirty="0" err="1"/>
              <a:t>gruplardaki</a:t>
            </a:r>
            <a:r>
              <a:rPr lang="en-US" sz="2400" dirty="0"/>
              <a:t> </a:t>
            </a:r>
            <a:r>
              <a:rPr lang="en-US" sz="2400" dirty="0" err="1"/>
              <a:t>gözlemler</a:t>
            </a:r>
            <a:r>
              <a:rPr lang="en-US" sz="2400" dirty="0"/>
              <a:t> </a:t>
            </a:r>
            <a:r>
              <a:rPr lang="en-US" sz="2400" dirty="0" err="1"/>
              <a:t>ise</a:t>
            </a:r>
            <a:r>
              <a:rPr lang="en-US" sz="2400" dirty="0"/>
              <a:t> </a:t>
            </a:r>
            <a:r>
              <a:rPr lang="en-US" sz="2400" dirty="0" err="1"/>
              <a:t>birbirinden</a:t>
            </a:r>
            <a:r>
              <a:rPr lang="en-US" sz="2400" dirty="0"/>
              <a:t> </a:t>
            </a:r>
            <a:r>
              <a:rPr lang="en-US" sz="2400" dirty="0" err="1"/>
              <a:t>oldukça</a:t>
            </a:r>
            <a:r>
              <a:rPr lang="en-US" sz="2400" dirty="0"/>
              <a:t> </a:t>
            </a:r>
            <a:r>
              <a:rPr lang="en-US" sz="2400" dirty="0" err="1"/>
              <a:t>farklı</a:t>
            </a:r>
            <a:r>
              <a:rPr lang="en-US" sz="2400" dirty="0"/>
              <a:t> </a:t>
            </a:r>
            <a:r>
              <a:rPr lang="en-US" sz="2400" dirty="0" err="1"/>
              <a:t>olmalıdır</a:t>
            </a:r>
            <a:r>
              <a:rPr lang="en-US" sz="2400" dirty="0"/>
              <a:t>.  </a:t>
            </a:r>
          </a:p>
          <a:p>
            <a:r>
              <a:rPr lang="en-US" sz="2400" dirty="0" err="1"/>
              <a:t>Elbette</a:t>
            </a:r>
            <a:r>
              <a:rPr lang="en-US" sz="2400" dirty="0"/>
              <a:t>, </a:t>
            </a:r>
            <a:r>
              <a:rPr lang="en-US" sz="2400" dirty="0" err="1"/>
              <a:t>iki</a:t>
            </a:r>
            <a:r>
              <a:rPr lang="en-US" sz="2400" dirty="0"/>
              <a:t> </a:t>
            </a:r>
            <a:r>
              <a:rPr lang="en-US" sz="2400" dirty="0" err="1"/>
              <a:t>veya</a:t>
            </a:r>
            <a:r>
              <a:rPr lang="en-US" sz="2400" dirty="0"/>
              <a:t> </a:t>
            </a:r>
            <a:r>
              <a:rPr lang="en-US" sz="2400" dirty="0" err="1"/>
              <a:t>daha</a:t>
            </a:r>
            <a:r>
              <a:rPr lang="en-US" sz="2400" dirty="0"/>
              <a:t> </a:t>
            </a:r>
            <a:r>
              <a:rPr lang="en-US" sz="2400" dirty="0" err="1"/>
              <a:t>fazla</a:t>
            </a:r>
            <a:r>
              <a:rPr lang="en-US" sz="2400" dirty="0"/>
              <a:t> </a:t>
            </a:r>
            <a:r>
              <a:rPr lang="en-US" sz="2400" dirty="0" err="1"/>
              <a:t>gözlemin</a:t>
            </a:r>
            <a:r>
              <a:rPr lang="en-US" sz="2400" dirty="0"/>
              <a:t> "</a:t>
            </a:r>
            <a:r>
              <a:rPr lang="en-US" sz="2400" dirty="0" err="1"/>
              <a:t>benzer</a:t>
            </a:r>
            <a:r>
              <a:rPr lang="en-US" sz="2400" dirty="0"/>
              <a:t>" </a:t>
            </a:r>
            <a:r>
              <a:rPr lang="en-US" sz="2400" dirty="0" err="1"/>
              <a:t>veya</a:t>
            </a:r>
            <a:r>
              <a:rPr lang="en-US" sz="2400" dirty="0"/>
              <a:t> "</a:t>
            </a:r>
            <a:r>
              <a:rPr lang="en-US" sz="2400" dirty="0" err="1"/>
              <a:t>farklı</a:t>
            </a:r>
            <a:r>
              <a:rPr lang="en-US" sz="2400" dirty="0"/>
              <a:t>" </a:t>
            </a:r>
            <a:r>
              <a:rPr lang="en-US" sz="2400" dirty="0" err="1"/>
              <a:t>olmasının</a:t>
            </a:r>
            <a:r>
              <a:rPr lang="en-US" sz="2400" dirty="0"/>
              <a:t> ne </a:t>
            </a:r>
            <a:r>
              <a:rPr lang="en-US" sz="2400" dirty="0" err="1"/>
              <a:t>anlama</a:t>
            </a:r>
            <a:r>
              <a:rPr lang="en-US" sz="2400" dirty="0"/>
              <a:t> </a:t>
            </a:r>
            <a:r>
              <a:rPr lang="en-US" sz="2400" dirty="0" err="1"/>
              <a:t>geldiğini</a:t>
            </a:r>
            <a:r>
              <a:rPr lang="en-US" sz="2400" dirty="0"/>
              <a:t> </a:t>
            </a:r>
            <a:r>
              <a:rPr lang="en-US" sz="2400" dirty="0" err="1"/>
              <a:t>tanımlamamız</a:t>
            </a:r>
            <a:r>
              <a:rPr lang="en-US" sz="2400" dirty="0"/>
              <a:t> </a:t>
            </a:r>
            <a:r>
              <a:rPr lang="en-US" sz="2400" dirty="0" err="1"/>
              <a:t>gerekir</a:t>
            </a:r>
            <a:r>
              <a:rPr lang="en-US" sz="2400" dirty="0"/>
              <a:t>. </a:t>
            </a:r>
          </a:p>
          <a:p>
            <a:r>
              <a:rPr lang="en-US" sz="2400" dirty="0" err="1"/>
              <a:t>Aslında</a:t>
            </a:r>
            <a:r>
              <a:rPr lang="en-US" sz="2400" dirty="0"/>
              <a:t> </a:t>
            </a:r>
            <a:r>
              <a:rPr lang="en-US" sz="2400" dirty="0" err="1"/>
              <a:t>bu</a:t>
            </a:r>
            <a:r>
              <a:rPr lang="en-US" sz="2400" dirty="0"/>
              <a:t>, </a:t>
            </a:r>
            <a:r>
              <a:rPr lang="en-US" sz="2400" dirty="0" err="1"/>
              <a:t>incelenen</a:t>
            </a:r>
            <a:r>
              <a:rPr lang="en-US" sz="2400" dirty="0"/>
              <a:t> </a:t>
            </a:r>
            <a:r>
              <a:rPr lang="en-US" sz="2400" dirty="0" err="1"/>
              <a:t>veri</a:t>
            </a:r>
            <a:r>
              <a:rPr lang="en-US" sz="2400" dirty="0"/>
              <a:t> </a:t>
            </a:r>
            <a:r>
              <a:rPr lang="en-US" sz="2400" dirty="0" err="1"/>
              <a:t>hakkındaki</a:t>
            </a:r>
            <a:r>
              <a:rPr lang="en-US" sz="2400" dirty="0"/>
              <a:t> </a:t>
            </a:r>
            <a:r>
              <a:rPr lang="en-US" sz="2400" dirty="0" err="1"/>
              <a:t>bilgiye</a:t>
            </a:r>
            <a:r>
              <a:rPr lang="en-US" sz="2400" dirty="0"/>
              <a:t> </a:t>
            </a:r>
            <a:r>
              <a:rPr lang="en-US" sz="2400" dirty="0" err="1"/>
              <a:t>dayanılarak</a:t>
            </a:r>
            <a:r>
              <a:rPr lang="en-US" sz="2400" dirty="0"/>
              <a:t> </a:t>
            </a:r>
            <a:r>
              <a:rPr lang="en-US" sz="2400" dirty="0" err="1"/>
              <a:t>verilmesi</a:t>
            </a:r>
            <a:r>
              <a:rPr lang="en-US" sz="2400" dirty="0"/>
              <a:t> </a:t>
            </a:r>
            <a:r>
              <a:rPr lang="en-US" sz="2400" dirty="0" err="1"/>
              <a:t>gereken</a:t>
            </a:r>
            <a:r>
              <a:rPr lang="en-US" sz="2400" dirty="0"/>
              <a:t> </a:t>
            </a:r>
            <a:r>
              <a:rPr lang="en-US" sz="2400" dirty="0" err="1"/>
              <a:t>alana</a:t>
            </a:r>
            <a:r>
              <a:rPr lang="en-US" sz="2400" dirty="0"/>
              <a:t> </a:t>
            </a:r>
            <a:r>
              <a:rPr lang="en-US" sz="2400" dirty="0" err="1"/>
              <a:t>özgü</a:t>
            </a:r>
            <a:r>
              <a:rPr lang="en-US" sz="2400" dirty="0"/>
              <a:t> (domain-specific)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karardır</a:t>
            </a:r>
            <a:r>
              <a:rPr lang="en-US" sz="2400" dirty="0"/>
              <a:t>.</a:t>
            </a:r>
            <a:endParaRPr lang="tr-TR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E68B39F-D53F-4DEE-944A-4859E81C1B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875"/>
          <a:stretch/>
        </p:blipFill>
        <p:spPr>
          <a:xfrm>
            <a:off x="6528618" y="1806546"/>
            <a:ext cx="5257800" cy="240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251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tr-TR" sz="4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tr-TR" sz="4000" dirty="0"/>
                  <a:t>-Ortalamalar (</a:t>
                </a:r>
                <a14:m>
                  <m:oMath xmlns:m="http://schemas.openxmlformats.org/officeDocument/2006/math">
                    <m:r>
                      <a:rPr lang="tr-TR" sz="4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tr-TR" sz="4000" dirty="0"/>
                  <a:t>-Means) Kümelemesi</a:t>
                </a:r>
                <a:endParaRPr lang="en-US" sz="40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4027" b="-14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10321413" cy="4921102"/>
              </a:xfrm>
            </p:spPr>
            <p:txBody>
              <a:bodyPr>
                <a:normAutofit/>
              </a:bodyPr>
              <a:lstStyle/>
              <a:p>
                <a:r>
                  <a:rPr lang="tr-TR" sz="2400" dirty="0"/>
                  <a:t>Kümeleme yöntemleri birçok alanda popülerdir ve çok sayıda çeşidi vardır. </a:t>
                </a:r>
              </a:p>
              <a:p>
                <a:r>
                  <a:rPr lang="tr-TR" sz="2400" dirty="0"/>
                  <a:t>En iyi bilinen yaklaşıma odaklanacağız:  K-Ortalamalar (K-Means) Kümelemesi</a:t>
                </a:r>
              </a:p>
              <a:p>
                <a:r>
                  <a:rPr lang="tr-TR" sz="2400" dirty="0"/>
                  <a:t>Amaç, veri setini </a:t>
                </a:r>
                <a14:m>
                  <m:oMath xmlns:m="http://schemas.openxmlformats.org/officeDocument/2006/math">
                    <m:r>
                      <a:rPr lang="tr-TR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tr-TR" sz="2400" dirty="0"/>
                  <a:t> adet birbirinden farklı, örtüşmeyen kümeye ayırmaktır. </a:t>
                </a:r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kümesine</a:t>
                </a:r>
                <a:r>
                  <a:rPr lang="en-US" sz="2400" dirty="0"/>
                  <a:t> </a:t>
                </a:r>
                <a:r>
                  <a:rPr lang="en-US" sz="2400" dirty="0" err="1"/>
                  <a:t>atanan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gözlemlerin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endeks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kümesi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olsun</a:t>
                </a:r>
                <a:r>
                  <a:rPr lang="en-US" sz="2400" dirty="0"/>
                  <a:t>.</a:t>
                </a:r>
              </a:p>
              <a:p>
                <a:r>
                  <a:rPr lang="tr-TR" sz="2400" dirty="0"/>
                  <a:t>Algoritma, her gözlemi tam olarak </a:t>
                </a:r>
                <a14:m>
                  <m:oMath xmlns:m="http://schemas.openxmlformats.org/officeDocument/2006/math">
                    <m:r>
                      <a:rPr lang="tr-TR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tr-TR" sz="2400" dirty="0"/>
                  <a:t> kümelerinden birine atayacaktır.</a:t>
                </a:r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tr-T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tr-TR" sz="24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sz="2400" i="1" dirty="0" smtClean="0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tr-TR" sz="2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sz="24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tr-TR" sz="2400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tr-TR" sz="2400" dirty="0"/>
                  <a:t> kümeleri şu özellikleri sağlar: </a:t>
                </a:r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tr-T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tr-TR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tr-TR" i="1" dirty="0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tr-T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tr-T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tr-TR" i="1" dirty="0" smtClean="0">
                        <a:latin typeface="Cambria Math" panose="02040503050406030204" pitchFamily="18" charset="0"/>
                      </a:rPr>
                      <m:t>∪…∪</m:t>
                    </m:r>
                    <m:sSub>
                      <m:sSubPr>
                        <m:ctrlPr>
                          <a:rPr lang="tr-T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tr-TR" i="1" dirty="0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tr-TR" i="1" dirty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lit/>
                      </m:rPr>
                      <a:rPr lang="tr-TR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tr-TR" i="1" dirty="0" smtClean="0">
                        <a:latin typeface="Cambria Math" panose="02040503050406030204" pitchFamily="18" charset="0"/>
                      </a:rPr>
                      <m:t>1, …, </m:t>
                    </m:r>
                    <m:r>
                      <a:rPr lang="tr-T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lit/>
                      </m:rPr>
                      <a:rPr lang="tr-TR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tr-TR" dirty="0"/>
                  <a:t> (Her gözlem en az bir kümeye aittir).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tr-T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tr-TR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tr-TR" i="1" dirty="0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tr-T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tr-TR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sSup>
                          <m:sSupPr>
                            <m:ctrlPr>
                              <a:rPr lang="tr-TR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tr-TR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tr-TR" i="1" dirty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sub>
                    </m:sSub>
                    <m:r>
                      <a:rPr lang="tr-TR" i="1" dirty="0" smtClean="0">
                        <a:latin typeface="Cambria Math" panose="02040503050406030204" pitchFamily="18" charset="0"/>
                      </a:rPr>
                      <m:t>= ∅</m:t>
                    </m:r>
                  </m:oMath>
                </a14:m>
                <a:r>
                  <a:rPr lang="tr-TR" dirty="0"/>
                  <a:t> (Kümeler örtüşmez, bir gözlem birden fazla kümeye ait olamaz). </a:t>
                </a:r>
                <a:endParaRPr lang="en-US" dirty="0"/>
              </a:p>
              <a:p>
                <a:r>
                  <a:rPr lang="tr-TR" sz="2400" dirty="0"/>
                  <a:t>Ana fikir; iyi bir kümelemenin, küme içi varyasyonun (within-cluster variation) mümkün olduğunca küçük olduğu bir kümeleme olmasıdır</a:t>
                </a:r>
                <a:r>
                  <a:rPr lang="en-US" sz="2400" dirty="0"/>
                  <a:t>.</a:t>
                </a:r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10321413" cy="4921102"/>
              </a:xfrm>
              <a:blipFill>
                <a:blip r:embed="rId3"/>
                <a:stretch>
                  <a:fillRect l="-827" t="-1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752861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tr-TR" sz="4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tr-TR" sz="4000" dirty="0"/>
                  <a:t>-Ortalamalar (</a:t>
                </a:r>
                <a14:m>
                  <m:oMath xmlns:m="http://schemas.openxmlformats.org/officeDocument/2006/math">
                    <m:r>
                      <a:rPr lang="tr-TR" sz="4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tr-TR" sz="4000" dirty="0"/>
                  <a:t>-Means) Kümelemesi</a:t>
                </a:r>
                <a:endParaRPr lang="en-US" sz="40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4027" b="-14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6123039" cy="492110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tr-TR" sz="2400" dirty="0"/>
                  <a:t>Gözlemleri, tüm kümeler üzerinden toplanan toplam küme içi varyasyonun mümkün olduğunca küçük olacağı şekilde ayırmak isteriz.</a:t>
                </a: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tr-TR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tr-TR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𝑊</m:t>
                                  </m:r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tr-T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tr-TR" sz="2400" i="1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tr-TR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  <a:p>
                <a:r>
                  <a:rPr lang="tr-TR" sz="2400" dirty="0"/>
                  <a:t>Küme içi varyasyonu tanımlamak için genellikle karesel Öklid mesafesi (squared Euclidean distance) kullanılır. </a:t>
                </a:r>
                <a:endParaRPr lang="en-US" sz="2400" dirty="0"/>
              </a:p>
              <a:p>
                <a:r>
                  <a:rPr lang="tr-TR" sz="2400" dirty="0"/>
                  <a:t>Kısaca </a:t>
                </a:r>
                <a14:m>
                  <m:oMath xmlns:m="http://schemas.openxmlformats.org/officeDocument/2006/math">
                    <m:r>
                      <a:rPr lang="tr-TR" sz="24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tr-TR" sz="2400" dirty="0"/>
                  <a:t>. küme içi varyasyon, </a:t>
                </a:r>
                <a14:m>
                  <m:oMath xmlns:m="http://schemas.openxmlformats.org/officeDocument/2006/math">
                    <m:r>
                      <a:rPr lang="tr-TR" sz="24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tr-TR" sz="2400" i="1" dirty="0" smtClean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tr-TR" sz="2400" dirty="0"/>
                  <a:t>kümedeki gözlemler arasındaki uzaklıkların hesaplanmasıyla elde edilir. </a:t>
                </a: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tr-TR" sz="2400" i="1" smtClean="0">
                          <a:latin typeface="Cambria Math" panose="02040503050406030204" pitchFamily="18" charset="0"/>
                        </a:rPr>
                        <m:t>𝑊</m:t>
                      </m:r>
                      <m:d>
                        <m:dPr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tr-TR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tr-T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tr-TR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tr-TR" sz="240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tr-TR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tr-T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tr-TR" sz="24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tr-TR" sz="2400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   </a:t>
                </a:r>
                <a:r>
                  <a:rPr lang="en-US" sz="2400" dirty="0" err="1"/>
                  <a:t>Burada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400" dirty="0"/>
                  <a:t>, k. </a:t>
                </a:r>
                <a:r>
                  <a:rPr lang="en-US" sz="2400" dirty="0" err="1"/>
                  <a:t>kümenin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merkezidir</a:t>
                </a:r>
                <a:r>
                  <a:rPr lang="en-US" sz="2400" dirty="0"/>
                  <a:t>. </a:t>
                </a:r>
                <a:endParaRPr lang="tr-TR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6123039" cy="4921102"/>
              </a:xfrm>
              <a:blipFill>
                <a:blip r:embed="rId3"/>
                <a:stretch>
                  <a:fillRect l="-1195" t="-2107" r="-797" b="-19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C3BEF4-8CB3-FBEC-AD8F-DE40DE860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226" y="1528640"/>
            <a:ext cx="4466745" cy="290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898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tr-TR" sz="4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tr-TR" sz="4000" dirty="0"/>
                  <a:t>-Ortalamalar (</a:t>
                </a:r>
                <a14:m>
                  <m:oMath xmlns:m="http://schemas.openxmlformats.org/officeDocument/2006/math">
                    <m:r>
                      <a:rPr lang="tr-TR" sz="4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tr-TR" sz="4000" dirty="0"/>
                  <a:t>-Means) Kümelemesi</a:t>
                </a:r>
                <a:endParaRPr lang="en-US" sz="40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4027" b="-14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389529"/>
                <a:ext cx="6241026" cy="4921102"/>
              </a:xfrm>
            </p:spPr>
            <p:txBody>
              <a:bodyPr>
                <a:normAutofit/>
              </a:bodyPr>
              <a:lstStyle/>
              <a:p>
                <a:r>
                  <a:rPr lang="tr-TR" sz="2400" dirty="0"/>
                  <a:t>Nihai optimizasyon şu hale gelir:</a:t>
                </a:r>
                <a:endParaRPr lang="en-US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tr-TR" sz="2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tr-TR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tr-TR" sz="2400" i="1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b>
                              </m:sSub>
                            </m:lim>
                          </m:limLow>
                        </m:fName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tr-TR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tr-TR" sz="24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supHide m:val="on"/>
                                      <m:ctrlPr>
                                        <a:rPr lang="tr-TR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7"/>
                                        </m:rPr>
                                        <a:rPr lang="tr-TR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tr-TR" sz="2400" i="1">
                                          <a:latin typeface="Cambria Math" panose="02040503050406030204" pitchFamily="18" charset="0"/>
                                        </a:rPr>
                                        <m:t> ∈</m:t>
                                      </m:r>
                                      <m:sSub>
                                        <m:sSubPr>
                                          <m:ctrlPr>
                                            <a:rPr lang="tr-T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tr-TR" sz="2400" i="1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tr-TR" sz="24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</m:sub>
                                    <m:sup/>
                                    <m:e>
                                      <m:sSup>
                                        <m:sSupPr>
                                          <m:ctrlPr>
                                            <a:rPr lang="tr-TR" sz="24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tr-TR" sz="24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tr-TR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tr-T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tr-TR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𝑖𝑗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tr-TR" sz="2400" i="1">
                                                  <a:latin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𝜇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sz="2400" i="1">
                                                      <a:latin typeface="Cambria Math" panose="02040503050406030204" pitchFamily="18" charset="0"/>
                                                    </a:rPr>
                                                    <m:t>𝑘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tr-TR" sz="2400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tr-TR" sz="24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tr-TR" sz="2400" dirty="0"/>
                  <a:t> gözlemi </a:t>
                </a:r>
                <a14:m>
                  <m:oMath xmlns:m="http://schemas.openxmlformats.org/officeDocument/2006/math">
                    <m:r>
                      <a:rPr lang="tr-TR" sz="24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tr-TR" sz="2400" dirty="0"/>
                  <a:t> kümeye ayırmanın kombinasyonları çok fazla olduğundan, bu tam olarak çözülmesi zor bir problemdir. </a:t>
                </a:r>
                <a:endParaRPr lang="en-US" sz="2400" dirty="0"/>
              </a:p>
              <a:p>
                <a:r>
                  <a:rPr lang="tr-TR" sz="2400" dirty="0"/>
                  <a:t>Ancak algoritmik olarak yerel bir optimum (local optimum) bulmak kolaydır.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389529"/>
                <a:ext cx="6241026" cy="4921102"/>
              </a:xfrm>
              <a:blipFill>
                <a:blip r:embed="rId3"/>
                <a:stretch>
                  <a:fillRect l="-1369" t="-1735" r="-1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4C3BEF4-8CB3-FBEC-AD8F-DE40DE8607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9226" y="1528640"/>
            <a:ext cx="4466745" cy="2907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2171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tr-TR" sz="40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tr-TR" sz="4000" dirty="0"/>
                  <a:t>-Ortalamalar Algoritmasının Adımları</a:t>
                </a:r>
                <a:endParaRPr lang="en-US" sz="40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4027" b="-14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D07E8-A7CB-0D7E-01EB-F063C60E2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9529"/>
            <a:ext cx="5631426" cy="492110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Her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gözlem</a:t>
            </a:r>
            <a:r>
              <a:rPr lang="en-US" dirty="0"/>
              <a:t> </a:t>
            </a: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kümeye</a:t>
            </a:r>
            <a:r>
              <a:rPr lang="en-US" dirty="0"/>
              <a:t> </a:t>
            </a:r>
            <a:r>
              <a:rPr lang="en-US" dirty="0" err="1"/>
              <a:t>atanır</a:t>
            </a:r>
            <a:r>
              <a:rPr lang="en-US" dirty="0"/>
              <a:t>.  </a:t>
            </a:r>
          </a:p>
          <a:p>
            <a:r>
              <a:rPr lang="en-US" dirty="0" err="1"/>
              <a:t>Küme</a:t>
            </a:r>
            <a:r>
              <a:rPr lang="en-US" dirty="0"/>
              <a:t> </a:t>
            </a:r>
            <a:r>
              <a:rPr lang="en-US" dirty="0" err="1"/>
              <a:t>merkezleri</a:t>
            </a:r>
            <a:r>
              <a:rPr lang="en-US" dirty="0"/>
              <a:t> (centroids) </a:t>
            </a:r>
            <a:r>
              <a:rPr lang="en-US" dirty="0" err="1"/>
              <a:t>hesaplanır</a:t>
            </a:r>
            <a:r>
              <a:rPr lang="en-US" dirty="0"/>
              <a:t>. (</a:t>
            </a:r>
            <a:r>
              <a:rPr lang="en-US" dirty="0" err="1"/>
              <a:t>Başlangıçta</a:t>
            </a:r>
            <a:r>
              <a:rPr lang="en-US" dirty="0"/>
              <a:t> </a:t>
            </a: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atandığı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merkezler</a:t>
            </a:r>
            <a:r>
              <a:rPr lang="en-US" dirty="0"/>
              <a:t> </a:t>
            </a:r>
            <a:r>
              <a:rPr lang="en-US" dirty="0" err="1"/>
              <a:t>birbirine</a:t>
            </a:r>
            <a:r>
              <a:rPr lang="en-US" dirty="0"/>
              <a:t> </a:t>
            </a:r>
            <a:r>
              <a:rPr lang="en-US" dirty="0" err="1"/>
              <a:t>yakın</a:t>
            </a:r>
            <a:r>
              <a:rPr lang="en-US" dirty="0"/>
              <a:t> </a:t>
            </a:r>
            <a:r>
              <a:rPr lang="en-US" dirty="0" err="1"/>
              <a:t>olacaktır</a:t>
            </a:r>
            <a:r>
              <a:rPr lang="en-US" dirty="0"/>
              <a:t>).  </a:t>
            </a:r>
          </a:p>
          <a:p>
            <a:r>
              <a:rPr lang="en-US" dirty="0"/>
              <a:t>Her </a:t>
            </a:r>
            <a:r>
              <a:rPr lang="en-US" dirty="0" err="1"/>
              <a:t>gözlem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yakın</a:t>
            </a:r>
            <a:r>
              <a:rPr lang="en-US" dirty="0"/>
              <a:t>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merkeze</a:t>
            </a:r>
            <a:r>
              <a:rPr lang="en-US" dirty="0"/>
              <a:t> </a:t>
            </a:r>
            <a:r>
              <a:rPr lang="en-US" dirty="0" err="1"/>
              <a:t>yeniden</a:t>
            </a:r>
            <a:r>
              <a:rPr lang="en-US" dirty="0"/>
              <a:t> </a:t>
            </a:r>
            <a:r>
              <a:rPr lang="en-US" dirty="0" err="1"/>
              <a:t>atanır</a:t>
            </a:r>
            <a:r>
              <a:rPr lang="en-US" dirty="0"/>
              <a:t>.  </a:t>
            </a:r>
          </a:p>
          <a:p>
            <a:r>
              <a:rPr lang="en-US" dirty="0" err="1"/>
              <a:t>Merkezler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hesaplanır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kümeler</a:t>
            </a:r>
            <a:r>
              <a:rPr lang="en-US" dirty="0"/>
              <a:t> </a:t>
            </a:r>
            <a:r>
              <a:rPr lang="en-US" dirty="0" err="1"/>
              <a:t>değişmeyi</a:t>
            </a:r>
            <a:r>
              <a:rPr lang="en-US" dirty="0"/>
              <a:t> </a:t>
            </a:r>
            <a:r>
              <a:rPr lang="en-US" dirty="0" err="1"/>
              <a:t>bırakana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 (</a:t>
            </a:r>
            <a:r>
              <a:rPr lang="en-US" dirty="0" err="1"/>
              <a:t>veya</a:t>
            </a:r>
            <a:r>
              <a:rPr lang="en-US" dirty="0"/>
              <a:t> </a:t>
            </a:r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iterasyona</a:t>
            </a:r>
            <a:r>
              <a:rPr lang="en-US" dirty="0"/>
              <a:t> </a:t>
            </a:r>
            <a:r>
              <a:rPr lang="en-US" dirty="0" err="1"/>
              <a:t>ulaşana</a:t>
            </a:r>
            <a:r>
              <a:rPr lang="en-US" dirty="0"/>
              <a:t> </a:t>
            </a:r>
            <a:r>
              <a:rPr lang="en-US" dirty="0" err="1"/>
              <a:t>kadar</a:t>
            </a:r>
            <a:r>
              <a:rPr lang="en-US" dirty="0"/>
              <a:t>)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süreç</a:t>
            </a:r>
            <a:r>
              <a:rPr lang="en-US" dirty="0"/>
              <a:t> </a:t>
            </a:r>
            <a:r>
              <a:rPr lang="en-US" dirty="0" err="1"/>
              <a:t>tekrarlanır</a:t>
            </a:r>
            <a:r>
              <a:rPr lang="en-US" dirty="0"/>
              <a:t>. 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8116" y="1389529"/>
            <a:ext cx="5059312" cy="480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171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tr-TR" sz="4000" i="1" dirty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tr-TR" sz="4000" dirty="0"/>
                  <a:t>-Ortalamalar Algoritmasının Adımları</a:t>
                </a:r>
                <a:endParaRPr lang="en-US" sz="40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4027" b="-14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BD07E8-A7CB-0D7E-01EB-F063C60E2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9529"/>
            <a:ext cx="5955890" cy="4921102"/>
          </a:xfrm>
        </p:spPr>
        <p:txBody>
          <a:bodyPr>
            <a:normAutofit/>
          </a:bodyPr>
          <a:lstStyle/>
          <a:p>
            <a:r>
              <a:rPr lang="en-US" dirty="0" err="1"/>
              <a:t>Algoritma</a:t>
            </a:r>
            <a:r>
              <a:rPr lang="en-US" dirty="0"/>
              <a:t> </a:t>
            </a:r>
            <a:r>
              <a:rPr lang="en-US" dirty="0" err="1"/>
              <a:t>küresel</a:t>
            </a:r>
            <a:r>
              <a:rPr lang="en-US" dirty="0"/>
              <a:t> (global) optimum </a:t>
            </a:r>
            <a:r>
              <a:rPr lang="en-US" dirty="0" err="1"/>
              <a:t>yerine</a:t>
            </a:r>
            <a:r>
              <a:rPr lang="en-US" dirty="0"/>
              <a:t> </a:t>
            </a:r>
            <a:r>
              <a:rPr lang="en-US" dirty="0" err="1"/>
              <a:t>yerel</a:t>
            </a:r>
            <a:r>
              <a:rPr lang="en-US" dirty="0"/>
              <a:t> optimum </a:t>
            </a:r>
            <a:r>
              <a:rPr lang="en-US" dirty="0" err="1"/>
              <a:t>bulduğundan</a:t>
            </a:r>
            <a:r>
              <a:rPr lang="en-US" dirty="0"/>
              <a:t>, </a:t>
            </a:r>
            <a:r>
              <a:rPr lang="en-US" dirty="0" err="1"/>
              <a:t>farklı</a:t>
            </a:r>
            <a:r>
              <a:rPr lang="en-US" dirty="0"/>
              <a:t> </a:t>
            </a: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başlangıç</a:t>
            </a:r>
            <a:r>
              <a:rPr lang="en-US" dirty="0"/>
              <a:t> </a:t>
            </a:r>
            <a:r>
              <a:rPr lang="en-US" dirty="0" err="1"/>
              <a:t>noktalarıyla</a:t>
            </a:r>
            <a:r>
              <a:rPr lang="en-US" dirty="0"/>
              <a:t> </a:t>
            </a:r>
            <a:r>
              <a:rPr lang="en-US" dirty="0" err="1"/>
              <a:t>birden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kez</a:t>
            </a:r>
            <a:r>
              <a:rPr lang="en-US" dirty="0"/>
              <a:t> </a:t>
            </a:r>
            <a:r>
              <a:rPr lang="en-US" dirty="0" err="1"/>
              <a:t>çalıştırmak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hedef</a:t>
            </a:r>
            <a:r>
              <a:rPr lang="en-US" dirty="0"/>
              <a:t> </a:t>
            </a:r>
            <a:r>
              <a:rPr lang="en-US" dirty="0" err="1"/>
              <a:t>fonksiyonunu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küçük</a:t>
            </a:r>
            <a:r>
              <a:rPr lang="en-US" dirty="0"/>
              <a:t> </a:t>
            </a:r>
            <a:r>
              <a:rPr lang="en-US" dirty="0" err="1"/>
              <a:t>yapan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iyi </a:t>
            </a:r>
            <a:r>
              <a:rPr lang="en-US" dirty="0" err="1"/>
              <a:t>çözümü</a:t>
            </a:r>
            <a:r>
              <a:rPr lang="en-US" dirty="0"/>
              <a:t> </a:t>
            </a:r>
            <a:r>
              <a:rPr lang="en-US" dirty="0" err="1"/>
              <a:t>seçmek</a:t>
            </a:r>
            <a:r>
              <a:rPr lang="en-US" dirty="0"/>
              <a:t> </a:t>
            </a:r>
            <a:r>
              <a:rPr lang="en-US" dirty="0" err="1"/>
              <a:t>önemlidir</a:t>
            </a:r>
            <a:r>
              <a:rPr lang="en-US" dirty="0"/>
              <a:t>. </a:t>
            </a:r>
          </a:p>
          <a:p>
            <a:r>
              <a:rPr lang="en-US" dirty="0" err="1"/>
              <a:t>Sklearn</a:t>
            </a:r>
            <a:r>
              <a:rPr lang="en-US" dirty="0"/>
              <a:t> </a:t>
            </a:r>
            <a:r>
              <a:rPr lang="en-US" dirty="0" err="1"/>
              <a:t>kütüphanesi</a:t>
            </a:r>
            <a:r>
              <a:rPr lang="en-US" dirty="0"/>
              <a:t> </a:t>
            </a:r>
            <a:r>
              <a:rPr lang="en-US" dirty="0" err="1"/>
              <a:t>akıllıca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başlatma</a:t>
            </a:r>
            <a:r>
              <a:rPr lang="en-US" dirty="0"/>
              <a:t> </a:t>
            </a:r>
            <a:r>
              <a:rPr lang="en-US" dirty="0" err="1"/>
              <a:t>kullandığı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rastgele</a:t>
            </a:r>
            <a:r>
              <a:rPr lang="en-US" dirty="0"/>
              <a:t> </a:t>
            </a:r>
            <a:r>
              <a:rPr lang="en-US" dirty="0" err="1"/>
              <a:t>başlatmaya</a:t>
            </a:r>
            <a:r>
              <a:rPr lang="en-US" dirty="0"/>
              <a:t> </a:t>
            </a:r>
            <a:r>
              <a:rPr lang="en-US" dirty="0" err="1"/>
              <a:t>genellikle</a:t>
            </a:r>
            <a:r>
              <a:rPr lang="en-US" dirty="0"/>
              <a:t> </a:t>
            </a:r>
            <a:r>
              <a:rPr lang="en-US" dirty="0" err="1"/>
              <a:t>gerek</a:t>
            </a:r>
            <a:r>
              <a:rPr lang="en-US" dirty="0"/>
              <a:t> </a:t>
            </a:r>
            <a:r>
              <a:rPr lang="en-US" dirty="0" err="1"/>
              <a:t>kalmaz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3530" y="1389529"/>
            <a:ext cx="4267200" cy="418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618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4000" dirty="0"/>
                  <a:t> </a:t>
                </a:r>
                <a:r>
                  <a:rPr lang="en-US" sz="4000" dirty="0" err="1"/>
                  <a:t>Sayısının</a:t>
                </a:r>
                <a:r>
                  <a:rPr lang="en-US" sz="4000" dirty="0"/>
                  <a:t> (</a:t>
                </a:r>
                <a:r>
                  <a:rPr lang="en-US" sz="4000" dirty="0" err="1"/>
                  <a:t>Küme</a:t>
                </a:r>
                <a:r>
                  <a:rPr lang="en-US" sz="4000" dirty="0"/>
                  <a:t> </a:t>
                </a:r>
                <a:r>
                  <a:rPr lang="en-US" sz="4000" dirty="0" err="1"/>
                  <a:t>Sayısının</a:t>
                </a:r>
                <a:r>
                  <a:rPr lang="en-US" sz="4000" dirty="0"/>
                  <a:t>) </a:t>
                </a:r>
                <a:r>
                  <a:rPr lang="en-US" sz="4000" dirty="0" err="1"/>
                  <a:t>Seçimi</a:t>
                </a:r>
                <a:endParaRPr lang="en-US" sz="40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4027" b="-140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389529"/>
            <a:ext cx="4894005" cy="4921102"/>
          </a:xfrm>
        </p:spPr>
        <p:txBody>
          <a:bodyPr>
            <a:normAutofit lnSpcReduction="10000"/>
          </a:bodyPr>
          <a:lstStyle/>
          <a:p>
            <a:r>
              <a:rPr lang="en-US" sz="2400" dirty="0" err="1"/>
              <a:t>Dirsek</a:t>
            </a:r>
            <a:r>
              <a:rPr lang="en-US" sz="2400" dirty="0"/>
              <a:t> </a:t>
            </a:r>
            <a:r>
              <a:rPr lang="en-US" sz="2400" dirty="0" err="1"/>
              <a:t>Yöntemi</a:t>
            </a:r>
            <a:r>
              <a:rPr lang="en-US" sz="2400" dirty="0"/>
              <a:t> (Elbow Method): </a:t>
            </a:r>
            <a:r>
              <a:rPr lang="en-US" sz="2400" dirty="0" err="1"/>
              <a:t>Farklı</a:t>
            </a:r>
            <a:r>
              <a:rPr lang="en-US" sz="2400" dirty="0"/>
              <a:t> </a:t>
            </a:r>
            <a:r>
              <a:rPr lang="en-US" sz="2400" dirty="0" err="1"/>
              <a:t>küme</a:t>
            </a:r>
            <a:r>
              <a:rPr lang="en-US" sz="2400" dirty="0"/>
              <a:t> </a:t>
            </a:r>
            <a:r>
              <a:rPr lang="en-US" sz="2400" dirty="0" err="1"/>
              <a:t>sayılarıyla</a:t>
            </a:r>
            <a:r>
              <a:rPr lang="en-US" sz="2400" dirty="0"/>
              <a:t> </a:t>
            </a:r>
            <a:r>
              <a:rPr lang="en-US" sz="2400" dirty="0" err="1"/>
              <a:t>açıklanan</a:t>
            </a:r>
            <a:r>
              <a:rPr lang="en-US" sz="2400" dirty="0"/>
              <a:t> </a:t>
            </a:r>
            <a:r>
              <a:rPr lang="en-US" sz="2400" dirty="0" err="1"/>
              <a:t>varyans</a:t>
            </a:r>
            <a:r>
              <a:rPr lang="en-US" sz="2400" dirty="0"/>
              <a:t> </a:t>
            </a:r>
            <a:r>
              <a:rPr lang="en-US" sz="2400" dirty="0" err="1"/>
              <a:t>çizilir</a:t>
            </a:r>
            <a:r>
              <a:rPr lang="en-US" sz="2400" dirty="0"/>
              <a:t>. </a:t>
            </a:r>
          </a:p>
          <a:p>
            <a:r>
              <a:rPr lang="en-US" sz="2400" dirty="0"/>
              <a:t>WCSS (</a:t>
            </a:r>
            <a:r>
              <a:rPr lang="en-US" sz="2400" dirty="0" err="1"/>
              <a:t>Atalet</a:t>
            </a:r>
            <a:r>
              <a:rPr lang="en-US" sz="2400" dirty="0"/>
              <a:t> - Inertia): Her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müşterinin</a:t>
            </a:r>
            <a:r>
              <a:rPr lang="en-US" sz="2400" dirty="0"/>
              <a:t>, </a:t>
            </a:r>
            <a:r>
              <a:rPr lang="en-US" sz="2400" dirty="0" err="1"/>
              <a:t>ait</a:t>
            </a:r>
            <a:r>
              <a:rPr lang="en-US" sz="2400" dirty="0"/>
              <a:t> </a:t>
            </a:r>
            <a:r>
              <a:rPr lang="en-US" sz="2400" dirty="0" err="1"/>
              <a:t>olduğu</a:t>
            </a:r>
            <a:r>
              <a:rPr lang="en-US" sz="2400" dirty="0"/>
              <a:t> </a:t>
            </a:r>
            <a:r>
              <a:rPr lang="en-US" sz="2400" dirty="0" err="1"/>
              <a:t>kümenin</a:t>
            </a:r>
            <a:r>
              <a:rPr lang="en-US" sz="2400" dirty="0"/>
              <a:t> </a:t>
            </a:r>
            <a:r>
              <a:rPr lang="en-US" sz="2400" dirty="0" err="1"/>
              <a:t>merkezine</a:t>
            </a:r>
            <a:r>
              <a:rPr lang="en-US" sz="2400" dirty="0"/>
              <a:t> </a:t>
            </a:r>
            <a:r>
              <a:rPr lang="en-US" sz="2400" dirty="0" err="1"/>
              <a:t>olan</a:t>
            </a:r>
            <a:r>
              <a:rPr lang="en-US" sz="2400" dirty="0"/>
              <a:t> </a:t>
            </a:r>
            <a:r>
              <a:rPr lang="en-US" sz="2400" dirty="0" err="1"/>
              <a:t>uzaklıklarının</a:t>
            </a:r>
            <a:r>
              <a:rPr lang="en-US" sz="2400" dirty="0"/>
              <a:t> </a:t>
            </a:r>
            <a:r>
              <a:rPr lang="en-US" sz="2400" dirty="0" err="1"/>
              <a:t>karesi</a:t>
            </a:r>
            <a:r>
              <a:rPr lang="en-US" sz="2400" dirty="0"/>
              <a:t> </a:t>
            </a:r>
            <a:r>
              <a:rPr lang="en-US" sz="2400" dirty="0" err="1"/>
              <a:t>toplamıdır</a:t>
            </a:r>
            <a:r>
              <a:rPr lang="en-US" sz="2400" dirty="0"/>
              <a:t>. </a:t>
            </a:r>
          </a:p>
          <a:p>
            <a:r>
              <a:rPr lang="en-US" sz="2400" dirty="0"/>
              <a:t>WCSS ne </a:t>
            </a:r>
            <a:r>
              <a:rPr lang="en-US" sz="2400" dirty="0" err="1"/>
              <a:t>kadar</a:t>
            </a:r>
            <a:r>
              <a:rPr lang="en-US" sz="2400" dirty="0"/>
              <a:t> </a:t>
            </a:r>
            <a:r>
              <a:rPr lang="en-US" sz="2400" dirty="0" err="1"/>
              <a:t>düşükse</a:t>
            </a:r>
            <a:r>
              <a:rPr lang="en-US" sz="2400" dirty="0"/>
              <a:t>, </a:t>
            </a:r>
            <a:r>
              <a:rPr lang="en-US" sz="2400" dirty="0" err="1"/>
              <a:t>kümeler</a:t>
            </a:r>
            <a:r>
              <a:rPr lang="en-US" sz="2400" dirty="0"/>
              <a:t> </a:t>
            </a:r>
            <a:r>
              <a:rPr lang="en-US" sz="2400" dirty="0" err="1"/>
              <a:t>kendi</a:t>
            </a:r>
            <a:r>
              <a:rPr lang="en-US" sz="2400" dirty="0"/>
              <a:t> </a:t>
            </a:r>
            <a:r>
              <a:rPr lang="en-US" sz="2400" dirty="0" err="1"/>
              <a:t>içinde</a:t>
            </a:r>
            <a:r>
              <a:rPr lang="en-US" sz="2400" dirty="0"/>
              <a:t> o </a:t>
            </a:r>
            <a:r>
              <a:rPr lang="en-US" sz="2400" dirty="0" err="1"/>
              <a:t>kadar</a:t>
            </a:r>
            <a:r>
              <a:rPr lang="en-US" sz="2400" dirty="0"/>
              <a:t> </a:t>
            </a:r>
            <a:r>
              <a:rPr lang="en-US" sz="2400" dirty="0" err="1"/>
              <a:t>sıkı</a:t>
            </a:r>
            <a:r>
              <a:rPr lang="en-US" sz="2400" dirty="0"/>
              <a:t>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homojendir</a:t>
            </a:r>
            <a:endParaRPr lang="en-US" sz="2400" dirty="0"/>
          </a:p>
          <a:p>
            <a:r>
              <a:rPr lang="en-US" sz="2400" dirty="0" err="1"/>
              <a:t>Varyansın</a:t>
            </a:r>
            <a:r>
              <a:rPr lang="en-US" sz="2400" dirty="0"/>
              <a:t> </a:t>
            </a:r>
            <a:r>
              <a:rPr lang="en-US" sz="2400" dirty="0" err="1"/>
              <a:t>azalma</a:t>
            </a:r>
            <a:r>
              <a:rPr lang="en-US" sz="2400" dirty="0"/>
              <a:t> </a:t>
            </a:r>
            <a:r>
              <a:rPr lang="en-US" sz="2400" dirty="0" err="1"/>
              <a:t>hızının</a:t>
            </a:r>
            <a:r>
              <a:rPr lang="en-US" sz="2400" dirty="0"/>
              <a:t> </a:t>
            </a:r>
            <a:r>
              <a:rPr lang="en-US" sz="2400" dirty="0" err="1"/>
              <a:t>keskin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şekilde</a:t>
            </a:r>
            <a:r>
              <a:rPr lang="en-US" sz="2400" dirty="0"/>
              <a:t> </a:t>
            </a:r>
            <a:r>
              <a:rPr lang="en-US" sz="2400" dirty="0" err="1"/>
              <a:t>dengelendiği</a:t>
            </a:r>
            <a:r>
              <a:rPr lang="en-US" sz="2400" dirty="0"/>
              <a:t> (</a:t>
            </a:r>
            <a:r>
              <a:rPr lang="en-US" sz="2400" dirty="0" err="1"/>
              <a:t>dirsek</a:t>
            </a:r>
            <a:r>
              <a:rPr lang="en-US" sz="2400" dirty="0"/>
              <a:t> </a:t>
            </a:r>
            <a:r>
              <a:rPr lang="en-US" sz="2400" dirty="0" err="1"/>
              <a:t>şeklini</a:t>
            </a:r>
            <a:r>
              <a:rPr lang="en-US" sz="2400" dirty="0"/>
              <a:t> </a:t>
            </a:r>
            <a:r>
              <a:rPr lang="en-US" sz="2400" dirty="0" err="1"/>
              <a:t>aldığı</a:t>
            </a:r>
            <a:r>
              <a:rPr lang="en-US" sz="2400" dirty="0"/>
              <a:t>) </a:t>
            </a:r>
            <a:r>
              <a:rPr lang="en-US" sz="2400" dirty="0" err="1"/>
              <a:t>nokta</a:t>
            </a:r>
            <a:r>
              <a:rPr lang="en-US" sz="2400" dirty="0"/>
              <a:t>, </a:t>
            </a:r>
            <a:r>
              <a:rPr lang="en-US" sz="2400" dirty="0" err="1"/>
              <a:t>uygun</a:t>
            </a:r>
            <a:r>
              <a:rPr lang="en-US" sz="2400" dirty="0"/>
              <a:t> </a:t>
            </a:r>
            <a:r>
              <a:rPr lang="en-US" sz="2400" dirty="0" err="1"/>
              <a:t>küme</a:t>
            </a:r>
            <a:r>
              <a:rPr lang="en-US" sz="2400" dirty="0"/>
              <a:t> </a:t>
            </a:r>
            <a:r>
              <a:rPr lang="en-US" sz="2400" dirty="0" err="1"/>
              <a:t>sayısını</a:t>
            </a:r>
            <a:r>
              <a:rPr lang="en-US" sz="2400" dirty="0"/>
              <a:t> </a:t>
            </a:r>
            <a:r>
              <a:rPr lang="en-US" sz="2400" dirty="0" err="1"/>
              <a:t>önerir</a:t>
            </a:r>
            <a:r>
              <a:rPr lang="en-US" sz="2400" dirty="0"/>
              <a:t>.</a:t>
            </a:r>
            <a:endParaRPr lang="tr-TR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5750C727-19D8-4F0F-8E69-1DD6B683E082}"/>
              </a:ext>
            </a:extLst>
          </p:cNvPr>
          <p:cNvGrpSpPr/>
          <p:nvPr/>
        </p:nvGrpSpPr>
        <p:grpSpPr>
          <a:xfrm>
            <a:off x="5732205" y="1318707"/>
            <a:ext cx="5873353" cy="4081006"/>
            <a:chOff x="0" y="1389529"/>
            <a:chExt cx="6904318" cy="448094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97C3D27-CE72-4B87-9016-E9AAA47E43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1389529"/>
              <a:ext cx="6904318" cy="448094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4C0857D-7177-44FD-B38E-55A08F577D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19328" y="1954239"/>
              <a:ext cx="1889924" cy="14250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5438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Selection of k – Silhouette 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195" y="1389529"/>
                <a:ext cx="7025967" cy="4921102"/>
              </a:xfrm>
            </p:spPr>
            <p:txBody>
              <a:bodyPr>
                <a:noAutofit/>
              </a:bodyPr>
              <a:lstStyle/>
              <a:p>
                <a:r>
                  <a:rPr lang="en-US" sz="2200" dirty="0" err="1"/>
                  <a:t>Silüet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Skoru</a:t>
                </a:r>
                <a:r>
                  <a:rPr lang="en-US" sz="2200" dirty="0"/>
                  <a:t> (Silhouette Score): </a:t>
                </a:r>
                <a:r>
                  <a:rPr lang="en-US" sz="2200" dirty="0" err="1"/>
                  <a:t>Kümeleme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sonuçlarının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kalitesini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ölçer</a:t>
                </a:r>
                <a:r>
                  <a:rPr lang="en-US" sz="2200" dirty="0"/>
                  <a:t>; </a:t>
                </a:r>
                <a:r>
                  <a:rPr lang="en-US" sz="2200" dirty="0" err="1"/>
                  <a:t>daha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yüksek</a:t>
                </a:r>
                <a:r>
                  <a:rPr lang="en-US" sz="2200" dirty="0"/>
                  <a:t> </a:t>
                </a:r>
                <a:r>
                  <a:rPr lang="en-US" sz="2200" dirty="0" err="1"/>
                  <a:t>bir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skor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daha</a:t>
                </a:r>
                <a:r>
                  <a:rPr lang="en-US" sz="2200" dirty="0"/>
                  <a:t> iyi </a:t>
                </a:r>
                <a:r>
                  <a:rPr lang="en-US" sz="2200" dirty="0" err="1"/>
                  <a:t>bir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kümelemeyi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gösterir</a:t>
                </a:r>
                <a:r>
                  <a:rPr lang="en-US" sz="2200" dirty="0"/>
                  <a:t>.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00" dirty="0"/>
                  <a:t>'</a:t>
                </a:r>
                <a:r>
                  <a:rPr lang="en-US" sz="2200" dirty="0" err="1"/>
                  <a:t>nin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aynı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kümedeki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diğer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noktalara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ortalama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uzaklığı</a:t>
                </a:r>
                <a:r>
                  <a:rPr lang="en-US" sz="2200" dirty="0"/>
                  <a:t> (</a:t>
                </a:r>
                <a:r>
                  <a:rPr lang="en-US" sz="2200" dirty="0" err="1"/>
                  <a:t>küme</a:t>
                </a:r>
                <a:r>
                  <a:rPr lang="en-US" sz="2200" dirty="0"/>
                  <a:t> </a:t>
                </a:r>
                <a:r>
                  <a:rPr lang="en-US" sz="2200" dirty="0" err="1"/>
                  <a:t>içi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mesafe</a:t>
                </a:r>
                <a:r>
                  <a:rPr lang="en-US" sz="2200" dirty="0"/>
                  <a:t>).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: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200" dirty="0"/>
                  <a:t>'</a:t>
                </a:r>
                <a:r>
                  <a:rPr lang="en-US" sz="2200" dirty="0" err="1"/>
                  <a:t>nin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en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yakın</a:t>
                </a:r>
                <a:r>
                  <a:rPr lang="en-US" sz="2200" dirty="0"/>
                  <a:t> </a:t>
                </a:r>
                <a:r>
                  <a:rPr lang="en-US" sz="2200" dirty="0" err="1"/>
                  <a:t>diğer</a:t>
                </a:r>
                <a:r>
                  <a:rPr lang="en-US" sz="2200" dirty="0"/>
                  <a:t> </a:t>
                </a:r>
                <a:r>
                  <a:rPr lang="en-US" sz="2200" dirty="0" err="1"/>
                  <a:t>kümedeki</a:t>
                </a:r>
                <a:r>
                  <a:rPr lang="en-US" sz="2200" dirty="0"/>
                  <a:t> </a:t>
                </a:r>
                <a:r>
                  <a:rPr lang="en-US" sz="2200" dirty="0" err="1"/>
                  <a:t>noktalara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ortalama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uzaklığı</a:t>
                </a:r>
                <a:r>
                  <a:rPr lang="en-US" sz="2200" dirty="0"/>
                  <a:t> (</a:t>
                </a:r>
                <a:r>
                  <a:rPr lang="en-US" sz="2200" dirty="0" err="1"/>
                  <a:t>kümeler</a:t>
                </a:r>
                <a:r>
                  <a:rPr lang="en-US" sz="2200" dirty="0"/>
                  <a:t> </a:t>
                </a:r>
                <a:r>
                  <a:rPr lang="en-US" sz="2200" dirty="0" err="1"/>
                  <a:t>arası</a:t>
                </a:r>
                <a:r>
                  <a:rPr lang="en-US" sz="2200" dirty="0"/>
                  <a:t> </a:t>
                </a:r>
                <a:r>
                  <a:rPr lang="en-US" sz="2200" dirty="0" err="1"/>
                  <a:t>mesafe</a:t>
                </a:r>
                <a:r>
                  <a:rPr lang="en-US" sz="2200" dirty="0"/>
                  <a:t>). </a:t>
                </a:r>
              </a:p>
              <a:p>
                <a:r>
                  <a:rPr lang="en-US" sz="2200" dirty="0"/>
                  <a:t>Veri </a:t>
                </a:r>
                <a:r>
                  <a:rPr lang="en-US" sz="2200" dirty="0" err="1"/>
                  <a:t>noktası</a:t>
                </a:r>
                <a:r>
                  <a:rPr lang="en-US" sz="2200" dirty="0"/>
                  <a:t> </a:t>
                </a:r>
                <a:r>
                  <a:rPr lang="en-US" sz="2200" dirty="0" err="1"/>
                  <a:t>bazında</a:t>
                </a:r>
                <a:r>
                  <a:rPr lang="en-US" sz="2200" dirty="0"/>
                  <a:t> </a:t>
                </a:r>
                <a:r>
                  <a:rPr lang="en-US" sz="2200" dirty="0" err="1"/>
                  <a:t>skor</a:t>
                </a:r>
                <a:r>
                  <a:rPr lang="en-US" sz="2200" dirty="0"/>
                  <a:t>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sz="2200" b="0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US" sz="2200" b="0" dirty="0"/>
              </a:p>
              <a:p>
                <a:r>
                  <a:rPr lang="en-US" sz="2200" dirty="0"/>
                  <a:t>Genel Skor: Tüm noktaların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22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200" dirty="0"/>
                  <a:t> toplamının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200" dirty="0"/>
                  <a:t>'e (gözlem sayısına) bölünmesidir</a:t>
                </a:r>
                <a:endParaRPr lang="en-US" sz="2200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𝑆𝑖𝑙h𝑜𝑢𝑡𝑡𝑒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2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sz="22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2200" b="0" i="1" smtClean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num>
                        <m:den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5" y="1389529"/>
                <a:ext cx="7025967" cy="4921102"/>
              </a:xfrm>
              <a:blipFill>
                <a:blip r:embed="rId2"/>
                <a:stretch>
                  <a:fillRect l="-954" t="-1611" b="-24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1B774C0-78E4-4DAB-96D3-99822E003589}"/>
              </a:ext>
            </a:extLst>
          </p:cNvPr>
          <p:cNvGrpSpPr/>
          <p:nvPr/>
        </p:nvGrpSpPr>
        <p:grpSpPr>
          <a:xfrm>
            <a:off x="7698658" y="1838012"/>
            <a:ext cx="4188542" cy="3181975"/>
            <a:chOff x="7046843" y="1318707"/>
            <a:chExt cx="4542183" cy="3399525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E14BABEB-0852-475D-9731-345262B198C5}"/>
                </a:ext>
              </a:extLst>
            </p:cNvPr>
            <p:cNvGrpSpPr/>
            <p:nvPr/>
          </p:nvGrpSpPr>
          <p:grpSpPr>
            <a:xfrm>
              <a:off x="7046843" y="1318707"/>
              <a:ext cx="4542183" cy="3399525"/>
              <a:chOff x="6659217" y="2226365"/>
              <a:chExt cx="4542183" cy="3399525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0367E61-95D3-45F3-889B-8A87D5D512C5}"/>
                  </a:ext>
                </a:extLst>
              </p:cNvPr>
              <p:cNvGrpSpPr/>
              <p:nvPr/>
            </p:nvGrpSpPr>
            <p:grpSpPr>
              <a:xfrm>
                <a:off x="6659217" y="2226365"/>
                <a:ext cx="4542183" cy="3399525"/>
                <a:chOff x="6659217" y="2226365"/>
                <a:chExt cx="4542183" cy="3399525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372BD3F9-239A-44B3-B6D1-DD2042767324}"/>
                    </a:ext>
                  </a:extLst>
                </p:cNvPr>
                <p:cNvGrpSpPr/>
                <p:nvPr/>
              </p:nvGrpSpPr>
              <p:grpSpPr>
                <a:xfrm>
                  <a:off x="6659217" y="2226365"/>
                  <a:ext cx="4542183" cy="3399525"/>
                  <a:chOff x="6659217" y="2226365"/>
                  <a:chExt cx="4542183" cy="3399525"/>
                </a:xfrm>
              </p:grpSpPr>
              <p:cxnSp>
                <p:nvCxnSpPr>
                  <p:cNvPr id="9" name="Straight Arrow Connector 8">
                    <a:extLst>
                      <a:ext uri="{FF2B5EF4-FFF2-40B4-BE49-F238E27FC236}">
                        <a16:creationId xmlns:a16="http://schemas.microsoft.com/office/drawing/2014/main" id="{7DE122D6-9ACE-4CE7-B379-54E8270F5B7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6659217" y="2226365"/>
                    <a:ext cx="0" cy="3399183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0" name="Straight Arrow Connector 9">
                    <a:extLst>
                      <a:ext uri="{FF2B5EF4-FFF2-40B4-BE49-F238E27FC236}">
                        <a16:creationId xmlns:a16="http://schemas.microsoft.com/office/drawing/2014/main" id="{C99A3276-02A6-4EB4-A24F-0E396D66ADE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659217" y="5625890"/>
                    <a:ext cx="4542183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" name="Star: 5 Points 13">
                  <a:extLst>
                    <a:ext uri="{FF2B5EF4-FFF2-40B4-BE49-F238E27FC236}">
                      <a16:creationId xmlns:a16="http://schemas.microsoft.com/office/drawing/2014/main" id="{1D001077-CECF-49D3-9FD7-79F27C74C69F}"/>
                    </a:ext>
                  </a:extLst>
                </p:cNvPr>
                <p:cNvSpPr/>
                <p:nvPr/>
              </p:nvSpPr>
              <p:spPr>
                <a:xfrm>
                  <a:off x="7374835" y="3981449"/>
                  <a:ext cx="149907" cy="137795"/>
                </a:xfrm>
                <a:prstGeom prst="star5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Star: 5 Points 14">
                  <a:extLst>
                    <a:ext uri="{FF2B5EF4-FFF2-40B4-BE49-F238E27FC236}">
                      <a16:creationId xmlns:a16="http://schemas.microsoft.com/office/drawing/2014/main" id="{F23E44EA-FB93-49E5-B508-285D5CF038B0}"/>
                    </a:ext>
                  </a:extLst>
                </p:cNvPr>
                <p:cNvSpPr/>
                <p:nvPr/>
              </p:nvSpPr>
              <p:spPr>
                <a:xfrm>
                  <a:off x="7877755" y="4171949"/>
                  <a:ext cx="149907" cy="137795"/>
                </a:xfrm>
                <a:prstGeom prst="star5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Star: 5 Points 15">
                  <a:extLst>
                    <a:ext uri="{FF2B5EF4-FFF2-40B4-BE49-F238E27FC236}">
                      <a16:creationId xmlns:a16="http://schemas.microsoft.com/office/drawing/2014/main" id="{BC0BE18A-649A-4BEB-A8D8-0E4E9898E14C}"/>
                    </a:ext>
                  </a:extLst>
                </p:cNvPr>
                <p:cNvSpPr/>
                <p:nvPr/>
              </p:nvSpPr>
              <p:spPr>
                <a:xfrm>
                  <a:off x="7449788" y="4450079"/>
                  <a:ext cx="149907" cy="137795"/>
                </a:xfrm>
                <a:prstGeom prst="star5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Star: 5 Points 16">
                  <a:extLst>
                    <a:ext uri="{FF2B5EF4-FFF2-40B4-BE49-F238E27FC236}">
                      <a16:creationId xmlns:a16="http://schemas.microsoft.com/office/drawing/2014/main" id="{0333BE3D-5736-4BB2-980B-31F1FFB8AA1E}"/>
                    </a:ext>
                  </a:extLst>
                </p:cNvPr>
                <p:cNvSpPr/>
                <p:nvPr/>
              </p:nvSpPr>
              <p:spPr>
                <a:xfrm>
                  <a:off x="7802801" y="4450078"/>
                  <a:ext cx="149907" cy="137795"/>
                </a:xfrm>
                <a:prstGeom prst="star5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Star: 5 Points 17">
                  <a:extLst>
                    <a:ext uri="{FF2B5EF4-FFF2-40B4-BE49-F238E27FC236}">
                      <a16:creationId xmlns:a16="http://schemas.microsoft.com/office/drawing/2014/main" id="{1ED21321-EC90-486C-9B23-CE4E9127A067}"/>
                    </a:ext>
                  </a:extLst>
                </p:cNvPr>
                <p:cNvSpPr/>
                <p:nvPr/>
              </p:nvSpPr>
              <p:spPr>
                <a:xfrm>
                  <a:off x="9599875" y="2884169"/>
                  <a:ext cx="149907" cy="137795"/>
                </a:xfrm>
                <a:prstGeom prst="star5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Star: 5 Points 18">
                  <a:extLst>
                    <a:ext uri="{FF2B5EF4-FFF2-40B4-BE49-F238E27FC236}">
                      <a16:creationId xmlns:a16="http://schemas.microsoft.com/office/drawing/2014/main" id="{445D5E6E-52AA-4D95-A450-BC5A0BCDE1BB}"/>
                    </a:ext>
                  </a:extLst>
                </p:cNvPr>
                <p:cNvSpPr/>
                <p:nvPr/>
              </p:nvSpPr>
              <p:spPr>
                <a:xfrm>
                  <a:off x="9331651" y="2830891"/>
                  <a:ext cx="149907" cy="137795"/>
                </a:xfrm>
                <a:prstGeom prst="star5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Star: 5 Points 19">
                  <a:extLst>
                    <a:ext uri="{FF2B5EF4-FFF2-40B4-BE49-F238E27FC236}">
                      <a16:creationId xmlns:a16="http://schemas.microsoft.com/office/drawing/2014/main" id="{DA03113F-130F-4E0E-842F-19A0BC2CD74E}"/>
                    </a:ext>
                  </a:extLst>
                </p:cNvPr>
                <p:cNvSpPr/>
                <p:nvPr/>
              </p:nvSpPr>
              <p:spPr>
                <a:xfrm>
                  <a:off x="9749782" y="3177833"/>
                  <a:ext cx="149907" cy="137795"/>
                </a:xfrm>
                <a:prstGeom prst="star5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Star: 5 Points 20">
                  <a:extLst>
                    <a:ext uri="{FF2B5EF4-FFF2-40B4-BE49-F238E27FC236}">
                      <a16:creationId xmlns:a16="http://schemas.microsoft.com/office/drawing/2014/main" id="{3060EAAF-41B9-4F31-821D-0DCE86097E9A}"/>
                    </a:ext>
                  </a:extLst>
                </p:cNvPr>
                <p:cNvSpPr/>
                <p:nvPr/>
              </p:nvSpPr>
              <p:spPr>
                <a:xfrm>
                  <a:off x="9406604" y="3244497"/>
                  <a:ext cx="149907" cy="137795"/>
                </a:xfrm>
                <a:prstGeom prst="star5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Star: 5 Points 21">
                  <a:extLst>
                    <a:ext uri="{FF2B5EF4-FFF2-40B4-BE49-F238E27FC236}">
                      <a16:creationId xmlns:a16="http://schemas.microsoft.com/office/drawing/2014/main" id="{6D95DBCA-E896-48D3-B567-E20680BEBEF7}"/>
                    </a:ext>
                  </a:extLst>
                </p:cNvPr>
                <p:cNvSpPr/>
                <p:nvPr/>
              </p:nvSpPr>
              <p:spPr>
                <a:xfrm>
                  <a:off x="9164117" y="3090699"/>
                  <a:ext cx="149907" cy="137795"/>
                </a:xfrm>
                <a:prstGeom prst="star5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50C3C845-3CB1-4B08-A04E-78A198E056E6}"/>
                  </a:ext>
                </a:extLst>
              </p:cNvPr>
              <p:cNvSpPr/>
              <p:nvPr/>
            </p:nvSpPr>
            <p:spPr>
              <a:xfrm>
                <a:off x="7179361" y="3855816"/>
                <a:ext cx="934273" cy="90785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6DF926A2-96A0-4351-AFBE-825C2B8668F6}"/>
                  </a:ext>
                </a:extLst>
              </p:cNvPr>
              <p:cNvSpPr/>
              <p:nvPr/>
            </p:nvSpPr>
            <p:spPr>
              <a:xfrm>
                <a:off x="9014420" y="2705668"/>
                <a:ext cx="934273" cy="907855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1681768-F579-490D-A926-AC198442E39A}"/>
                </a:ext>
              </a:extLst>
            </p:cNvPr>
            <p:cNvCxnSpPr>
              <a:cxnSpLocks/>
              <a:endCxn id="24" idx="0"/>
            </p:cNvCxnSpPr>
            <p:nvPr/>
          </p:nvCxnSpPr>
          <p:spPr>
            <a:xfrm flipV="1">
              <a:off x="8034123" y="2948158"/>
              <a:ext cx="1" cy="45392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8F1D0BC-C1FE-4A7C-B533-7AD94ABF03ED}"/>
                    </a:ext>
                  </a:extLst>
                </p:cNvPr>
                <p:cNvSpPr txBox="1"/>
                <p:nvPr/>
              </p:nvSpPr>
              <p:spPr>
                <a:xfrm>
                  <a:off x="8060009" y="2984383"/>
                  <a:ext cx="186781" cy="27699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98F1D0BC-C1FE-4A7C-B533-7AD94ABF03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0009" y="2984383"/>
                  <a:ext cx="186781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9355" r="-12903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DAA0EBCC-4AA1-4EE6-A5D7-710D2D20E3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34123" y="2520196"/>
              <a:ext cx="1453835" cy="881889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791336B-893F-4C7F-A365-D896C7EE0AB8}"/>
                    </a:ext>
                  </a:extLst>
                </p:cNvPr>
                <p:cNvSpPr txBox="1"/>
                <p:nvPr/>
              </p:nvSpPr>
              <p:spPr>
                <a:xfrm>
                  <a:off x="9166260" y="2684141"/>
                  <a:ext cx="186781" cy="276999"/>
                </a:xfrm>
                <a:prstGeom prst="rect">
                  <a:avLst/>
                </a:prstGeom>
                <a:noFill/>
                <a:ln w="19050"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E791336B-893F-4C7F-A365-D896C7EE0A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6260" y="2684141"/>
                  <a:ext cx="186781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30000" r="-30000" b="-8889"/>
                  </a:stretch>
                </a:blipFill>
                <a:ln w="19050"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D8878D00-7A0F-46F5-AFF7-0477841B1B4B}"/>
                </a:ext>
              </a:extLst>
            </p:cNvPr>
            <p:cNvSpPr txBox="1"/>
            <p:nvPr/>
          </p:nvSpPr>
          <p:spPr>
            <a:xfrm>
              <a:off x="7255424" y="2623157"/>
              <a:ext cx="91755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Cluster 1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80AF9A0-A033-401B-B203-21C5276ADA58}"/>
                </a:ext>
              </a:extLst>
            </p:cNvPr>
            <p:cNvSpPr txBox="1"/>
            <p:nvPr/>
          </p:nvSpPr>
          <p:spPr>
            <a:xfrm>
              <a:off x="9828623" y="2636815"/>
              <a:ext cx="917559" cy="338554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rtlCol="0">
              <a:spAutoFit/>
            </a:bodyPr>
            <a:lstStyle>
              <a:defPPr>
                <a:defRPr lang="tr-TR"/>
              </a:defPPr>
              <a:lvl1pPr>
                <a:defRPr sz="1600"/>
              </a:lvl1pPr>
            </a:lstStyle>
            <a:p>
              <a:r>
                <a:rPr lang="en-US" dirty="0"/>
                <a:t>Cluster 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32877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Ölçeklendirme (Scaling) Ölümcüldür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600" dirty="0" err="1"/>
              <a:t>Tıpkı</a:t>
            </a:r>
            <a:r>
              <a:rPr lang="en-US" sz="2600" dirty="0"/>
              <a:t> </a:t>
            </a:r>
            <a:r>
              <a:rPr lang="en-US" sz="2600" dirty="0" err="1"/>
              <a:t>KNN'de</a:t>
            </a:r>
            <a:r>
              <a:rPr lang="en-US" sz="2600" dirty="0"/>
              <a:t> </a:t>
            </a:r>
            <a:r>
              <a:rPr lang="en-US" sz="2600" dirty="0" err="1"/>
              <a:t>olduğu</a:t>
            </a:r>
            <a:r>
              <a:rPr lang="en-US" sz="2600" dirty="0"/>
              <a:t> </a:t>
            </a:r>
            <a:r>
              <a:rPr lang="en-US" sz="2600" dirty="0" err="1"/>
              <a:t>gibi</a:t>
            </a:r>
            <a:r>
              <a:rPr lang="en-US" sz="2600" dirty="0"/>
              <a:t> K-Means de </a:t>
            </a:r>
            <a:r>
              <a:rPr lang="en-US" sz="2600" dirty="0" err="1"/>
              <a:t>Mesafe</a:t>
            </a:r>
            <a:r>
              <a:rPr lang="en-US" sz="2600" dirty="0"/>
              <a:t> (</a:t>
            </a:r>
            <a:r>
              <a:rPr lang="en-US" sz="2600" dirty="0" err="1"/>
              <a:t>Öklid</a:t>
            </a:r>
            <a:r>
              <a:rPr lang="en-US" sz="2600" dirty="0"/>
              <a:t>) </a:t>
            </a:r>
            <a:r>
              <a:rPr lang="en-US" sz="2600" dirty="0" err="1"/>
              <a:t>kullanır</a:t>
            </a:r>
            <a:r>
              <a:rPr lang="en-US" sz="2600" dirty="0"/>
              <a:t>.</a:t>
            </a:r>
          </a:p>
          <a:p>
            <a:r>
              <a:rPr lang="en-US" sz="2600" dirty="0" err="1"/>
              <a:t>Gelir</a:t>
            </a:r>
            <a:r>
              <a:rPr lang="en-US" sz="2600" dirty="0"/>
              <a:t> (Income) 80.000 TL </a:t>
            </a:r>
            <a:r>
              <a:rPr lang="en-US" sz="2600" dirty="0" err="1"/>
              <a:t>civarındayken</a:t>
            </a:r>
            <a:r>
              <a:rPr lang="en-US" sz="2600" dirty="0"/>
              <a:t>, </a:t>
            </a:r>
            <a:r>
              <a:rPr lang="en-US" sz="2600" dirty="0" err="1"/>
              <a:t>Aylık</a:t>
            </a:r>
            <a:r>
              <a:rPr lang="en-US" sz="2600" dirty="0"/>
              <a:t> </a:t>
            </a:r>
            <a:r>
              <a:rPr lang="en-US" sz="2600" dirty="0" err="1"/>
              <a:t>Ziyaret</a:t>
            </a:r>
            <a:r>
              <a:rPr lang="en-US" sz="2600" dirty="0"/>
              <a:t> </a:t>
            </a:r>
            <a:r>
              <a:rPr lang="en-US" sz="2600" dirty="0" err="1"/>
              <a:t>Sayısı</a:t>
            </a:r>
            <a:r>
              <a:rPr lang="en-US" sz="2600" dirty="0"/>
              <a:t> (</a:t>
            </a:r>
            <a:r>
              <a:rPr lang="en-US" sz="2600" dirty="0" err="1"/>
              <a:t>NumAppVisitsMonth</a:t>
            </a:r>
            <a:r>
              <a:rPr lang="en-US" sz="2600" dirty="0"/>
              <a:t>) 5 </a:t>
            </a:r>
            <a:r>
              <a:rPr lang="en-US" sz="2600" dirty="0" err="1"/>
              <a:t>veya</a:t>
            </a:r>
            <a:r>
              <a:rPr lang="en-US" sz="2600" dirty="0"/>
              <a:t> 10'dur.</a:t>
            </a:r>
          </a:p>
          <a:p>
            <a:r>
              <a:rPr lang="en-US" sz="2600" dirty="0" err="1"/>
              <a:t>Eğer</a:t>
            </a:r>
            <a:r>
              <a:rPr lang="en-US" sz="2600" dirty="0"/>
              <a:t> </a:t>
            </a:r>
            <a:r>
              <a:rPr lang="en-US" sz="2600" dirty="0" err="1"/>
              <a:t>veriyi</a:t>
            </a:r>
            <a:r>
              <a:rPr lang="en-US" sz="2600" dirty="0"/>
              <a:t> standardize </a:t>
            </a:r>
            <a:r>
              <a:rPr lang="en-US" sz="2600" dirty="0" err="1"/>
              <a:t>etmezseniz</a:t>
            </a:r>
            <a:r>
              <a:rPr lang="en-US" sz="2600" dirty="0"/>
              <a:t>, K-Means </a:t>
            </a:r>
            <a:r>
              <a:rPr lang="en-US" sz="2600" dirty="0" err="1"/>
              <a:t>sadece</a:t>
            </a:r>
            <a:r>
              <a:rPr lang="en-US" sz="2600" dirty="0"/>
              <a:t> Income </a:t>
            </a:r>
            <a:r>
              <a:rPr lang="en-US" sz="2600" dirty="0" err="1"/>
              <a:t>sütununa</a:t>
            </a:r>
            <a:r>
              <a:rPr lang="en-US" sz="2600" dirty="0"/>
              <a:t> </a:t>
            </a:r>
            <a:r>
              <a:rPr lang="en-US" sz="2600" dirty="0" err="1"/>
              <a:t>bakar</a:t>
            </a:r>
            <a:r>
              <a:rPr lang="en-US" sz="2600" dirty="0"/>
              <a:t>, "</a:t>
            </a:r>
            <a:r>
              <a:rPr lang="en-US" sz="2600" dirty="0" err="1"/>
              <a:t>uygulama</a:t>
            </a:r>
            <a:r>
              <a:rPr lang="en-US" sz="2600" dirty="0"/>
              <a:t> </a:t>
            </a:r>
            <a:r>
              <a:rPr lang="en-US" sz="2600" dirty="0" err="1"/>
              <a:t>ziyareti</a:t>
            </a:r>
            <a:r>
              <a:rPr lang="en-US" sz="2600" dirty="0"/>
              <a:t>" </a:t>
            </a:r>
            <a:r>
              <a:rPr lang="en-US" sz="2600" dirty="0" err="1"/>
              <a:t>sütununu</a:t>
            </a:r>
            <a:r>
              <a:rPr lang="en-US" sz="2600" dirty="0"/>
              <a:t> </a:t>
            </a:r>
            <a:r>
              <a:rPr lang="en-US" sz="2600" dirty="0" err="1"/>
              <a:t>matematiksel</a:t>
            </a:r>
            <a:r>
              <a:rPr lang="en-US" sz="2600" dirty="0"/>
              <a:t> </a:t>
            </a:r>
            <a:r>
              <a:rPr lang="en-US" sz="2600" dirty="0" err="1"/>
              <a:t>olarak</a:t>
            </a:r>
            <a:r>
              <a:rPr lang="en-US" sz="2600" dirty="0"/>
              <a:t> </a:t>
            </a:r>
            <a:r>
              <a:rPr lang="en-US" sz="2600" dirty="0" err="1"/>
              <a:t>ezer</a:t>
            </a:r>
            <a:r>
              <a:rPr lang="en-US" sz="2600" dirty="0"/>
              <a:t> </a:t>
            </a:r>
            <a:r>
              <a:rPr lang="en-US" sz="2600" dirty="0" err="1"/>
              <a:t>geçer</a:t>
            </a:r>
            <a:r>
              <a:rPr lang="en-US" sz="2600" dirty="0"/>
              <a:t>.</a:t>
            </a:r>
          </a:p>
          <a:p>
            <a:r>
              <a:rPr lang="en-US" sz="2600" dirty="0"/>
              <a:t>K-</a:t>
            </a:r>
            <a:r>
              <a:rPr lang="en-US" sz="2600" dirty="0" err="1"/>
              <a:t>Means'ten</a:t>
            </a:r>
            <a:r>
              <a:rPr lang="en-US" sz="2600" dirty="0"/>
              <a:t> </a:t>
            </a:r>
            <a:r>
              <a:rPr lang="en-US" sz="2600" dirty="0" err="1"/>
              <a:t>önce</a:t>
            </a:r>
            <a:r>
              <a:rPr lang="en-US" sz="2600" dirty="0"/>
              <a:t> </a:t>
            </a:r>
            <a:r>
              <a:rPr lang="en-US" sz="2600" dirty="0" err="1"/>
              <a:t>mutlaka</a:t>
            </a:r>
            <a:r>
              <a:rPr lang="en-US" sz="2600" dirty="0"/>
              <a:t> </a:t>
            </a:r>
            <a:r>
              <a:rPr lang="en-US" sz="2600" dirty="0" err="1"/>
              <a:t>StandardScaler</a:t>
            </a:r>
            <a:r>
              <a:rPr lang="en-US" sz="2600" dirty="0"/>
              <a:t> </a:t>
            </a:r>
            <a:r>
              <a:rPr lang="en-US" sz="2600" dirty="0" err="1"/>
              <a:t>uygulanmalıdır</a:t>
            </a:r>
            <a:r>
              <a:rPr lang="en-US" sz="2600" dirty="0"/>
              <a:t>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B15ED6-B9DE-4B4C-B737-2E28B3D2B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İTÜSEM - Mehmet Yasin Ulukuş</a:t>
            </a:r>
            <a:endParaRPr lang="en-US" altLang="en-US" i="0" dirty="0"/>
          </a:p>
        </p:txBody>
      </p:sp>
    </p:spTree>
    <p:extLst>
      <p:ext uri="{BB962C8B-B14F-4D97-AF65-F5344CB8AC3E}">
        <p14:creationId xmlns:p14="http://schemas.microsoft.com/office/powerpoint/2010/main" val="1728414061"/>
      </p:ext>
    </p:extLst>
  </p:cSld>
  <p:clrMapOvr>
    <a:masterClrMapping/>
  </p:clrMapOvr>
</p:sld>
</file>

<file path=ppt/theme/theme1.xml><?xml version="1.0" encoding="utf-8"?>
<a:theme xmlns:a="http://schemas.openxmlformats.org/drawingml/2006/main" name="ITU Layou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1194</TotalTime>
  <Words>1196</Words>
  <Application>Microsoft Office PowerPoint</Application>
  <PresentationFormat>Widescreen</PresentationFormat>
  <Paragraphs>105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ITU Layout</vt:lpstr>
      <vt:lpstr>Agentic AI Uygulamaları</vt:lpstr>
      <vt:lpstr>Denetimsiz Öğrenme (Unsupervised Learning)</vt:lpstr>
      <vt:lpstr>Denetimsiz Öğrenme (Unsupervised Learning)</vt:lpstr>
      <vt:lpstr>Denetimsiz Öğrenmenin Zorlukları</vt:lpstr>
      <vt:lpstr>Bazı Uygulama Örnekleri</vt:lpstr>
      <vt:lpstr>Neden Geleneksel Segmentasyon Yetmez?</vt:lpstr>
      <vt:lpstr>Kümeleme (Clustering)</vt:lpstr>
      <vt:lpstr>K-Ortalamalar (K-Means) Kümelemesi</vt:lpstr>
      <vt:lpstr>K-Ortalamalar (K-Means) Kümelemesi</vt:lpstr>
      <vt:lpstr>K-Ortalamalar (K-Means) Kümelemesi</vt:lpstr>
      <vt:lpstr>K-Ortalamalar Algoritmasının Adımları</vt:lpstr>
      <vt:lpstr>K-Ortalamalar Algoritmasının Adımları</vt:lpstr>
      <vt:lpstr>K Sayısının (Küme Sayısının) Seçimi</vt:lpstr>
      <vt:lpstr>Selection of k – Silhouette Score</vt:lpstr>
      <vt:lpstr>Ölçeklendirme (Scaling) Ölümcüldür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Quality Engineering</dc:title>
  <dc:creator>MEHMET YASİN ULUKUŞ</dc:creator>
  <cp:lastModifiedBy>Mehmet Yasin Ulukus</cp:lastModifiedBy>
  <cp:revision>205</cp:revision>
  <dcterms:created xsi:type="dcterms:W3CDTF">2020-10-15T19:58:41Z</dcterms:created>
  <dcterms:modified xsi:type="dcterms:W3CDTF">2026-07-10T18:56:03Z</dcterms:modified>
</cp:coreProperties>
</file>