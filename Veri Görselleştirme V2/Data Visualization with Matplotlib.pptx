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62" r:id="rId3"/>
    <p:sldId id="286" r:id="rId4"/>
    <p:sldId id="266" r:id="rId5"/>
    <p:sldId id="267" r:id="rId6"/>
    <p:sldId id="268" r:id="rId7"/>
    <p:sldId id="265" r:id="rId8"/>
    <p:sldId id="269" r:id="rId9"/>
    <p:sldId id="270" r:id="rId10"/>
    <p:sldId id="271" r:id="rId11"/>
    <p:sldId id="272" r:id="rId12"/>
    <p:sldId id="275" r:id="rId13"/>
    <p:sldId id="276" r:id="rId14"/>
    <p:sldId id="273" r:id="rId15"/>
    <p:sldId id="284" r:id="rId16"/>
    <p:sldId id="285" r:id="rId17"/>
    <p:sldId id="264" r:id="rId18"/>
    <p:sldId id="277" r:id="rId19"/>
    <p:sldId id="278" r:id="rId20"/>
    <p:sldId id="279" r:id="rId21"/>
    <p:sldId id="280" r:id="rId22"/>
    <p:sldId id="281" r:id="rId23"/>
    <p:sldId id="282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414141"/>
        </a:solidFill>
        <a:effectLst/>
        <a:uFillTx/>
        <a:latin typeface="Palatino"/>
        <a:ea typeface="Palatino"/>
        <a:cs typeface="Palatino"/>
        <a:sym typeface="Palatin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-375889"/>
              <a:satOff val="-9195"/>
              <a:lumOff val="-14901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left>
          <a:right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right>
          <a:top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top>
          <a:bottom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bottom>
          <a:insideH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H>
          <a:insideV>
            <a:ln w="25400" cap="rnd">
              <a:solidFill>
                <a:srgbClr val="C9C3BA"/>
              </a:solidFill>
              <a:custDash>
                <a:ds d="1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7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39D60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2525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hueOff val="708446"/>
              <a:satOff val="-4821"/>
              <a:lumOff val="-14251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1">
              <a:hueOff val="-113918"/>
              <a:satOff val="19024"/>
              <a:lumOff val="19749"/>
              <a:alpha val="35000"/>
            </a:scheme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38AA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6"/>
              <a:satOff val="13972"/>
              <a:lumOff val="-24493"/>
            </a:schemeClr>
          </a:solidFill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1">
                  <a:hueOff val="-113918"/>
                  <a:satOff val="19024"/>
                  <a:lumOff val="19749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369194"/>
              <a:satOff val="6343"/>
              <a:lumOff val="-13963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solidFill>
                <a:srgbClr val="C9C3BA"/>
              </a:solidFill>
              <a:prstDash val="solid"/>
              <a:miter lim="400000"/>
            </a:ln>
          </a:left>
          <a:right>
            <a:ln w="12700" cap="flat">
              <a:solidFill>
                <a:srgbClr val="C9C3BA"/>
              </a:solidFill>
              <a:prstDash val="solid"/>
              <a:miter lim="400000"/>
            </a:ln>
          </a:right>
          <a:top>
            <a:ln w="12700" cap="flat">
              <a:solidFill>
                <a:srgbClr val="C9C3BA"/>
              </a:solidFill>
              <a:prstDash val="solid"/>
              <a:miter lim="400000"/>
            </a:ln>
          </a:top>
          <a:bottom>
            <a:ln w="12700" cap="flat">
              <a:solidFill>
                <a:srgbClr val="C9C3BA"/>
              </a:solidFill>
              <a:prstDash val="solid"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solidFill>
                <a:srgbClr val="C9C3B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50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6635F"/>
          </a:solidFill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9C3BA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9847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9C3BA">
              <a:alpha val="35000"/>
            </a:srgbClr>
          </a:solidFill>
        </a:fill>
      </a:tcStyle>
    </a:band2H>
    <a:firstCol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89847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Palatino"/>
          <a:ea typeface="Palatino"/>
          <a:cs typeface="Palatino"/>
        </a:font>
        <a:srgbClr val="41414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89847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3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3200" dirty="0">
                <a:solidFill>
                  <a:srgbClr val="FF0000"/>
                </a:solidFill>
              </a:rPr>
              <a:t>Market Share</a:t>
            </a:r>
          </a:p>
        </c:rich>
      </c:tx>
      <c:layout>
        <c:manualLayout>
          <c:xMode val="edge"/>
          <c:yMode val="edge"/>
          <c:x val="0.38644067374223662"/>
          <c:y val="1.95244908236533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C0BA-417F-A9B3-97F7783BB5C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C0BA-417F-A9B3-97F7783BB5C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C0BA-417F-A9B3-97F7783BB5C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C0BA-417F-A9B3-97F7783BB5CD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Sheet1!$E$6:$H$6</c:f>
              <c:strCache>
                <c:ptCount val="4"/>
                <c:pt idx="0">
                  <c:v>Our Product</c:v>
                </c:pt>
                <c:pt idx="1">
                  <c:v>Competitor A</c:v>
                </c:pt>
                <c:pt idx="2">
                  <c:v>Competitor B</c:v>
                </c:pt>
                <c:pt idx="3">
                  <c:v>Competitor C</c:v>
                </c:pt>
              </c:strCache>
            </c:strRef>
          </c:cat>
          <c:val>
            <c:numRef>
              <c:f>Sheet1!$E$7:$H$7</c:f>
              <c:numCache>
                <c:formatCode>General</c:formatCode>
                <c:ptCount val="4"/>
                <c:pt idx="0">
                  <c:v>36</c:v>
                </c:pt>
                <c:pt idx="1">
                  <c:v>42</c:v>
                </c:pt>
                <c:pt idx="2">
                  <c:v>13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0BA-417F-A9B3-97F7783BB5CD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ln>
                <a:noFill/>
              </a:ln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pct10">
      <a:fgClr>
        <a:schemeClr val="accent1"/>
      </a:fgClr>
      <a:bgClr>
        <a:schemeClr val="bg1"/>
      </a:bgClr>
    </a:patt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3200" dirty="0">
                <a:solidFill>
                  <a:srgbClr val="FF0000"/>
                </a:solidFill>
              </a:rPr>
              <a:t>Market Share</a:t>
            </a:r>
          </a:p>
        </c:rich>
      </c:tx>
      <c:layout>
        <c:manualLayout>
          <c:xMode val="edge"/>
          <c:yMode val="edge"/>
          <c:x val="0.38644067374223662"/>
          <c:y val="1.95244908236533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C0BA-417F-A9B3-97F7783BB5C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C0BA-417F-A9B3-97F7783BB5C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C0BA-417F-A9B3-97F7783BB5C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C0BA-417F-A9B3-97F7783BB5CD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Sheet1!$E$6:$H$6</c:f>
              <c:strCache>
                <c:ptCount val="4"/>
                <c:pt idx="0">
                  <c:v>Our Product</c:v>
                </c:pt>
                <c:pt idx="1">
                  <c:v>Competitor A</c:v>
                </c:pt>
                <c:pt idx="2">
                  <c:v>Competitor B</c:v>
                </c:pt>
                <c:pt idx="3">
                  <c:v>Competitor C</c:v>
                </c:pt>
              </c:strCache>
            </c:strRef>
          </c:cat>
          <c:val>
            <c:numRef>
              <c:f>Sheet1!$E$7:$H$7</c:f>
              <c:numCache>
                <c:formatCode>General</c:formatCode>
                <c:ptCount val="4"/>
                <c:pt idx="0">
                  <c:v>36</c:v>
                </c:pt>
                <c:pt idx="1">
                  <c:v>42</c:v>
                </c:pt>
                <c:pt idx="2">
                  <c:v>13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0BA-417F-A9B3-97F7783BB5CD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ln>
                <a:noFill/>
              </a:ln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pct10">
      <a:fgClr>
        <a:schemeClr val="accent1"/>
      </a:fgClr>
      <a:bgClr>
        <a:schemeClr val="bg1"/>
      </a:bgClr>
    </a:patt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3200"/>
              <a:t>Market Share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EA1E7A">
                <a:alpha val="84706"/>
              </a:srgb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50000"/>
                  <a:alpha val="70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1CA4-42D7-B983-DD491495639D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50000"/>
                  <a:alpha val="70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CA4-42D7-B983-DD491495639D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50000"/>
                  <a:alpha val="70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1CA4-42D7-B983-DD491495639D}"/>
              </c:ext>
            </c:extLst>
          </c:dPt>
          <c:dPt>
            <c:idx val="3"/>
            <c:invertIfNegative val="0"/>
            <c:bubble3D val="0"/>
            <c:spPr>
              <a:solidFill>
                <a:srgbClr val="EA1E7A"/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1CA4-42D7-B983-DD491495639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Sheet1!$H$6:$K$6</c:f>
              <c:strCache>
                <c:ptCount val="4"/>
                <c:pt idx="0">
                  <c:v>Competitor C</c:v>
                </c:pt>
                <c:pt idx="1">
                  <c:v>Competitor B</c:v>
                </c:pt>
                <c:pt idx="2">
                  <c:v>Competitor A</c:v>
                </c:pt>
                <c:pt idx="3">
                  <c:v>Our Product</c:v>
                </c:pt>
              </c:strCache>
            </c:strRef>
          </c:cat>
          <c:val>
            <c:numRef>
              <c:f>Sheet1!$H$7:$K$7</c:f>
              <c:numCache>
                <c:formatCode>General</c:formatCode>
                <c:ptCount val="4"/>
                <c:pt idx="0">
                  <c:v>9</c:v>
                </c:pt>
                <c:pt idx="1">
                  <c:v>13</c:v>
                </c:pt>
                <c:pt idx="2">
                  <c:v>42</c:v>
                </c:pt>
                <c:pt idx="3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CA4-42D7-B983-DD491495639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515015072"/>
        <c:axId val="1385606160"/>
      </c:barChart>
      <c:catAx>
        <c:axId val="15150150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5606160"/>
        <c:crosses val="autoZero"/>
        <c:auto val="1"/>
        <c:lblAlgn val="ctr"/>
        <c:lblOffset val="100"/>
        <c:noMultiLvlLbl val="0"/>
      </c:catAx>
      <c:valAx>
        <c:axId val="1385606160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5015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952500" y="9245600"/>
            <a:ext cx="2249897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" name="Line"/>
          <p:cNvSpPr/>
          <p:nvPr/>
        </p:nvSpPr>
        <p:spPr>
          <a:xfrm>
            <a:off x="952500" y="5765800"/>
            <a:ext cx="22500035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" name="Line"/>
          <p:cNvSpPr/>
          <p:nvPr/>
        </p:nvSpPr>
        <p:spPr>
          <a:xfrm flipV="1">
            <a:off x="14989317" y="6339647"/>
            <a:ext cx="1" cy="2310129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" name="Lorem Ipsum Dolor"/>
          <p:cNvSpPr txBox="1">
            <a:spLocks noGrp="1"/>
          </p:cNvSpPr>
          <p:nvPr>
            <p:ph type="body" sz="quarter" idx="13"/>
          </p:nvPr>
        </p:nvSpPr>
        <p:spPr>
          <a:xfrm>
            <a:off x="952500" y="4965700"/>
            <a:ext cx="13500100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3200" i="1"/>
            </a:lvl1pPr>
          </a:lstStyle>
          <a:p>
            <a:r>
              <a:t>Lorem Ipsum Dolor</a:t>
            </a:r>
          </a:p>
        </p:txBody>
      </p:sp>
      <p:sp>
        <p:nvSpPr>
          <p:cNvPr id="17" name="Title Text"/>
          <p:cNvSpPr txBox="1">
            <a:spLocks noGrp="1"/>
          </p:cNvSpPr>
          <p:nvPr>
            <p:ph type="title"/>
          </p:nvPr>
        </p:nvSpPr>
        <p:spPr>
          <a:xfrm>
            <a:off x="952500" y="5829300"/>
            <a:ext cx="13500100" cy="3340100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Title Text</a:t>
            </a:r>
          </a:p>
        </p:txBody>
      </p:sp>
      <p:sp>
        <p:nvSpPr>
          <p:cNvPr id="1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532100" y="5829300"/>
            <a:ext cx="7950200" cy="33401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3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3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3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3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Image"/>
          <p:cNvSpPr>
            <a:spLocks noGrp="1"/>
          </p:cNvSpPr>
          <p:nvPr>
            <p:ph type="pic" idx="13"/>
          </p:nvPr>
        </p:nvSpPr>
        <p:spPr>
          <a:xfrm>
            <a:off x="954977" y="-1462305"/>
            <a:ext cx="22479001" cy="13893801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7" name="Line"/>
          <p:cNvSpPr/>
          <p:nvPr/>
        </p:nvSpPr>
        <p:spPr>
          <a:xfrm flipV="1">
            <a:off x="14989317" y="9919062"/>
            <a:ext cx="1" cy="231013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8" name="Line"/>
          <p:cNvSpPr/>
          <p:nvPr/>
        </p:nvSpPr>
        <p:spPr>
          <a:xfrm>
            <a:off x="952500" y="12801600"/>
            <a:ext cx="2249897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29" name="Line"/>
          <p:cNvSpPr/>
          <p:nvPr/>
        </p:nvSpPr>
        <p:spPr>
          <a:xfrm>
            <a:off x="952500" y="9321800"/>
            <a:ext cx="22500035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0" name="Line"/>
          <p:cNvSpPr/>
          <p:nvPr/>
        </p:nvSpPr>
        <p:spPr>
          <a:xfrm flipV="1">
            <a:off x="14989317" y="9919062"/>
            <a:ext cx="1" cy="231013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1" name="Lorem Ipsum Dolor"/>
          <p:cNvSpPr txBox="1">
            <a:spLocks noGrp="1"/>
          </p:cNvSpPr>
          <p:nvPr>
            <p:ph type="body" sz="quarter" idx="14"/>
          </p:nvPr>
        </p:nvSpPr>
        <p:spPr>
          <a:xfrm>
            <a:off x="952500" y="8610600"/>
            <a:ext cx="13500100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3200" i="1"/>
            </a:lvl1pPr>
          </a:lstStyle>
          <a:p>
            <a:r>
              <a:t>Lorem Ipsum Dolor</a:t>
            </a:r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952500" y="9398000"/>
            <a:ext cx="13500100" cy="3340100"/>
          </a:xfrm>
          <a:prstGeom prst="rect">
            <a:avLst/>
          </a:prstGeom>
        </p:spPr>
        <p:txBody>
          <a:bodyPr/>
          <a:lstStyle>
            <a:lvl1pPr algn="l"/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532100" y="9398000"/>
            <a:ext cx="7950200" cy="33401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3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3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3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3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4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13866" y="-23584"/>
            <a:ext cx="1871036" cy="2125128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Line"/>
          <p:cNvSpPr/>
          <p:nvPr/>
        </p:nvSpPr>
        <p:spPr>
          <a:xfrm>
            <a:off x="952500" y="6858000"/>
            <a:ext cx="10643200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1" name="Line"/>
          <p:cNvSpPr/>
          <p:nvPr/>
        </p:nvSpPr>
        <p:spPr>
          <a:xfrm>
            <a:off x="952500" y="3898900"/>
            <a:ext cx="10643093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52" name="Lorem Ipsum Dolor"/>
          <p:cNvSpPr txBox="1">
            <a:spLocks noGrp="1"/>
          </p:cNvSpPr>
          <p:nvPr>
            <p:ph type="body" sz="quarter" idx="13"/>
          </p:nvPr>
        </p:nvSpPr>
        <p:spPr>
          <a:xfrm>
            <a:off x="952500" y="3124200"/>
            <a:ext cx="10642600" cy="6350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ClrTx/>
              <a:buSzTx/>
              <a:buFontTx/>
              <a:buNone/>
              <a:defRPr sz="3200" i="1"/>
            </a:lvl1pPr>
          </a:lstStyle>
          <a:p>
            <a:r>
              <a:t>Lorem Ipsum Dolor</a:t>
            </a:r>
          </a:p>
        </p:txBody>
      </p:sp>
      <p:sp>
        <p:nvSpPr>
          <p:cNvPr id="53" name="Image"/>
          <p:cNvSpPr>
            <a:spLocks noGrp="1"/>
          </p:cNvSpPr>
          <p:nvPr>
            <p:ph type="pic" idx="14"/>
          </p:nvPr>
        </p:nvSpPr>
        <p:spPr>
          <a:xfrm>
            <a:off x="12534900" y="-1651000"/>
            <a:ext cx="10799069" cy="158242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54" name="Title Text"/>
          <p:cNvSpPr txBox="1">
            <a:spLocks noGrp="1"/>
          </p:cNvSpPr>
          <p:nvPr>
            <p:ph type="title"/>
          </p:nvPr>
        </p:nvSpPr>
        <p:spPr>
          <a:xfrm>
            <a:off x="952500" y="3975100"/>
            <a:ext cx="10642600" cy="2806700"/>
          </a:xfrm>
          <a:prstGeom prst="rect">
            <a:avLst/>
          </a:prstGeom>
        </p:spPr>
        <p:txBody>
          <a:bodyPr/>
          <a:lstStyle>
            <a:lvl1pPr algn="l">
              <a:defRPr sz="7800"/>
            </a:lvl1pPr>
          </a:lstStyle>
          <a:p>
            <a:r>
              <a:t>Title Text</a:t>
            </a:r>
          </a:p>
        </p:txBody>
      </p:sp>
      <p:sp>
        <p:nvSpPr>
          <p:cNvPr id="5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7086600"/>
            <a:ext cx="10642600" cy="56388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3200"/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3200"/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3200"/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3200"/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2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2928838" y="317500"/>
            <a:ext cx="20502662" cy="2438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4069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76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1778000"/>
            <a:ext cx="22479000" cy="101473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990600" y="8420100"/>
            <a:ext cx="22390100" cy="8128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1700"/>
              </a:spcBef>
              <a:buClrTx/>
              <a:buSzTx/>
              <a:buFontTx/>
              <a:buNone/>
              <a:defRPr sz="4200" i="1"/>
            </a:lvl1pPr>
          </a:lstStyle>
          <a:p>
            <a:r>
              <a:t>–Johnny Appleseed</a:t>
            </a:r>
          </a:p>
        </p:txBody>
      </p:sp>
      <p:sp>
        <p:nvSpPr>
          <p:cNvPr id="115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2374900" y="6000750"/>
            <a:ext cx="19621500" cy="939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952500" y="30607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952500" y="1143000"/>
            <a:ext cx="22479000" cy="166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099" y="13017500"/>
            <a:ext cx="419101" cy="508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solidFill>
                  <a:srgbClr val="4C4946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  <p:sldLayoutId id="2147483658" r:id="rId7"/>
    <p:sldLayoutId id="2147483660" r:id="rId8"/>
  </p:sldLayoutIdLst>
  <p:transition spd="med"/>
  <p:txStyles>
    <p:titleStyle>
      <a:lvl1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1pPr>
      <a:lvl2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2pPr>
      <a:lvl3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3pPr>
      <a:lvl4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4pPr>
      <a:lvl5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5pPr>
      <a:lvl6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6pPr>
      <a:lvl7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7pPr>
      <a:lvl8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8pPr>
      <a:lvl9pPr marL="0" marR="0" indent="0" algn="ctr" defTabSz="825500" rtl="0" latinLnBrk="0">
        <a:lnSpc>
          <a:spcPct val="90000"/>
        </a:lnSpc>
        <a:spcBef>
          <a:spcPts val="2300"/>
        </a:spcBef>
        <a:spcAft>
          <a:spcPts val="0"/>
        </a:spcAft>
        <a:buClrTx/>
        <a:buSzTx/>
        <a:buFontTx/>
        <a:buNone/>
        <a:tabLst/>
        <a:defRPr sz="9800" b="0" i="0" u="none" strike="noStrike" cap="none" spc="0" baseline="0">
          <a:solidFill>
            <a:srgbClr val="D93E2B"/>
          </a:solidFill>
          <a:uFillTx/>
          <a:latin typeface="+mn-lt"/>
          <a:ea typeface="+mn-ea"/>
          <a:cs typeface="+mn-cs"/>
          <a:sym typeface="Bodoni SvtyTwo ITC TT-Book"/>
        </a:defRPr>
      </a:lvl9pPr>
    </p:titleStyle>
    <p:bodyStyle>
      <a:lvl1pPr marL="6096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1pPr>
      <a:lvl2pPr marL="12192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2pPr>
      <a:lvl3pPr marL="18288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3pPr>
      <a:lvl4pPr marL="24384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4pPr>
      <a:lvl5pPr marL="30480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5pPr>
      <a:lvl6pPr marL="36576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6pPr>
      <a:lvl7pPr marL="42672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7pPr>
      <a:lvl8pPr marL="48768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8pPr>
      <a:lvl9pPr marL="5486400" marR="0" indent="-609600" algn="l" defTabSz="825500" rtl="0" latinLnBrk="0">
        <a:lnSpc>
          <a:spcPct val="100000"/>
        </a:lnSpc>
        <a:spcBef>
          <a:spcPts val="3400"/>
        </a:spcBef>
        <a:spcAft>
          <a:spcPts val="0"/>
        </a:spcAft>
        <a:buClr>
          <a:srgbClr val="929292"/>
        </a:buClr>
        <a:buSzPct val="60000"/>
        <a:buFont typeface="Zapf Dingbats"/>
        <a:buChar char="❖"/>
        <a:tabLst/>
        <a:defRPr sz="5000" b="0" i="0" u="none" strike="noStrike" cap="none" spc="0" baseline="0">
          <a:solidFill>
            <a:srgbClr val="414141"/>
          </a:solidFill>
          <a:uFillTx/>
          <a:latin typeface="Palatino"/>
          <a:ea typeface="Palatino"/>
          <a:cs typeface="Palatino"/>
          <a:sym typeface="Palatino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alatin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3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ibcs.com/standards/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api/backend_bases_api.html#matplotlib.backend_bases.FigureCanvasBas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matplotlib.org/api/backend_bases_api.html#matplotlib.backend_bases.RendererBase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Python Matplotlib Library with Examples - Lintel Technologies Blog">
            <a:extLst>
              <a:ext uri="{FF2B5EF4-FFF2-40B4-BE49-F238E27FC236}">
                <a16:creationId xmlns:a16="http://schemas.microsoft.com/office/drawing/2014/main" id="{1B6FD33A-35D2-4AE3-8554-6EB64D1A78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" t="17061" r="82" b="15794"/>
          <a:stretch/>
        </p:blipFill>
        <p:spPr bwMode="auto">
          <a:xfrm>
            <a:off x="621323" y="485530"/>
            <a:ext cx="23141354" cy="864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1" name="Line"/>
          <p:cNvSpPr/>
          <p:nvPr/>
        </p:nvSpPr>
        <p:spPr>
          <a:xfrm flipV="1">
            <a:off x="15727871" y="10763129"/>
            <a:ext cx="1" cy="231013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2" name="Line"/>
          <p:cNvSpPr/>
          <p:nvPr/>
        </p:nvSpPr>
        <p:spPr>
          <a:xfrm>
            <a:off x="952500" y="13293970"/>
            <a:ext cx="22498974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3" name="Line"/>
          <p:cNvSpPr/>
          <p:nvPr/>
        </p:nvSpPr>
        <p:spPr>
          <a:xfrm>
            <a:off x="982265" y="10565427"/>
            <a:ext cx="22500035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4" name="Line"/>
          <p:cNvSpPr/>
          <p:nvPr/>
        </p:nvSpPr>
        <p:spPr>
          <a:xfrm flipV="1">
            <a:off x="15727871" y="11114824"/>
            <a:ext cx="1" cy="231013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45" name="Lecture 1: Introduction to Facility Layout Design"/>
          <p:cNvSpPr txBox="1">
            <a:spLocks noGrp="1"/>
          </p:cNvSpPr>
          <p:nvPr>
            <p:ph type="body" idx="14"/>
          </p:nvPr>
        </p:nvSpPr>
        <p:spPr>
          <a:xfrm>
            <a:off x="877974" y="9621140"/>
            <a:ext cx="20393025" cy="859787"/>
          </a:xfrm>
          <a:prstGeom prst="rect">
            <a:avLst/>
          </a:prstGeom>
        </p:spPr>
        <p:txBody>
          <a:bodyPr/>
          <a:lstStyle>
            <a:lvl1pPr>
              <a:defRPr sz="4700"/>
            </a:lvl1pPr>
          </a:lstStyle>
          <a:p>
            <a:r>
              <a:rPr lang="en-GB" dirty="0"/>
              <a:t>Data Visualization </a:t>
            </a:r>
            <a:r>
              <a:rPr lang="en-GB"/>
              <a:t>with Matplotlib</a:t>
            </a:r>
            <a:endParaRPr dirty="0"/>
          </a:p>
        </p:txBody>
      </p:sp>
      <p:sp>
        <p:nvSpPr>
          <p:cNvPr id="146" name="END 432 Facility Layout"/>
          <p:cNvSpPr txBox="1">
            <a:spLocks noGrp="1"/>
          </p:cNvSpPr>
          <p:nvPr>
            <p:ph type="title"/>
          </p:nvPr>
        </p:nvSpPr>
        <p:spPr>
          <a:xfrm>
            <a:off x="675410" y="10386578"/>
            <a:ext cx="14287500" cy="284389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sz="8000" dirty="0"/>
              <a:t>Data Science Certificate Program</a:t>
            </a:r>
            <a:endParaRPr sz="8000" dirty="0"/>
          </a:p>
        </p:txBody>
      </p:sp>
      <p:sp>
        <p:nvSpPr>
          <p:cNvPr id="147" name="Mehmet Ali Ergün, Ph.D."/>
          <p:cNvSpPr txBox="1">
            <a:spLocks noGrp="1"/>
          </p:cNvSpPr>
          <p:nvPr>
            <p:ph type="body" sz="quarter" idx="1"/>
          </p:nvPr>
        </p:nvSpPr>
        <p:spPr>
          <a:xfrm>
            <a:off x="15532100" y="10386578"/>
            <a:ext cx="7950200" cy="2843892"/>
          </a:xfrm>
          <a:prstGeom prst="rect">
            <a:avLst/>
          </a:prstGeom>
        </p:spPr>
        <p:txBody>
          <a:bodyPr/>
          <a:lstStyle>
            <a:lvl1pPr algn="ctr">
              <a:defRPr sz="3500"/>
            </a:lvl1pPr>
          </a:lstStyle>
          <a:p>
            <a:r>
              <a:rPr dirty="0"/>
              <a:t>Mehmet Ali </a:t>
            </a:r>
            <a:r>
              <a:rPr dirty="0" err="1"/>
              <a:t>Ergün</a:t>
            </a:r>
            <a:r>
              <a:rPr dirty="0"/>
              <a:t>, Ph.D.</a:t>
            </a:r>
          </a:p>
        </p:txBody>
      </p:sp>
      <p:pic>
        <p:nvPicPr>
          <p:cNvPr id="148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13866" y="-23584"/>
            <a:ext cx="1871036" cy="21251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Data Visualization</a:t>
            </a:r>
            <a:endParaRPr dirty="0"/>
          </a:p>
        </p:txBody>
      </p:sp>
      <p:sp>
        <p:nvSpPr>
          <p:cNvPr id="153" name="Body"/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/>
          </a:bodyPr>
          <a:lstStyle/>
          <a:p>
            <a:r>
              <a:rPr lang="en-GB" dirty="0"/>
              <a:t>Data visualization is simply the process of </a:t>
            </a:r>
            <a:r>
              <a:rPr lang="en-GB" dirty="0">
                <a:solidFill>
                  <a:srgbClr val="FF0000"/>
                </a:solidFill>
              </a:rPr>
              <a:t>representing the data graphically</a:t>
            </a:r>
            <a:r>
              <a:rPr lang="en-GB" dirty="0"/>
              <a:t>.</a:t>
            </a:r>
          </a:p>
          <a:p>
            <a:r>
              <a:rPr lang="en-GB" dirty="0"/>
              <a:t>We produce images, plots, infographics and so on to communicate the trends and the relationships within the data.</a:t>
            </a:r>
          </a:p>
          <a:p>
            <a:r>
              <a:rPr lang="en-GB" dirty="0"/>
              <a:t>When used in exploratory data analysis, it also helps data scientists to get a better understanding of the data</a:t>
            </a:r>
            <a:endParaRPr lang="en-GB" i="1" dirty="0"/>
          </a:p>
          <a:p>
            <a:r>
              <a:rPr lang="en-GB" dirty="0"/>
              <a:t>Usually considered a form of both art and science</a:t>
            </a:r>
          </a:p>
          <a:p>
            <a:r>
              <a:rPr lang="en-GB" dirty="0"/>
              <a:t>A popular quote:</a:t>
            </a:r>
          </a:p>
          <a:p>
            <a:pPr marL="0" indent="0">
              <a:buNone/>
            </a:pPr>
            <a:r>
              <a:rPr lang="en-GB" i="1" dirty="0"/>
              <a:t>	“A picture is worth a thousand words”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 descr="The 5 Things You Need to Remember When Relying on Data ...">
            <a:extLst>
              <a:ext uri="{FF2B5EF4-FFF2-40B4-BE49-F238E27FC236}">
                <a16:creationId xmlns:a16="http://schemas.microsoft.com/office/drawing/2014/main" id="{8FEA8667-C833-40E3-95E7-9F515B8367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25"/>
          <a:stretch/>
        </p:blipFill>
        <p:spPr bwMode="auto">
          <a:xfrm>
            <a:off x="16125092" y="8552231"/>
            <a:ext cx="6744859" cy="329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33355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DE1BE-4BAD-48A6-AF77-52A49C2C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886AB-BE5E-43F5-9DD8-3521797FA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F37565-D053-45C1-A42A-CD71FB1F3E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68"/>
          <a:stretch/>
        </p:blipFill>
        <p:spPr>
          <a:xfrm>
            <a:off x="952500" y="3344036"/>
            <a:ext cx="9272271" cy="9275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0C23F87A-7EC8-400A-8989-22E195476B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37"/>
          <a:stretch/>
        </p:blipFill>
        <p:spPr>
          <a:xfrm>
            <a:off x="10224771" y="3344036"/>
            <a:ext cx="13543838" cy="9095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164828099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Best Practices</a:t>
            </a:r>
            <a:endParaRPr dirty="0"/>
          </a:p>
        </p:txBody>
      </p:sp>
      <p:sp>
        <p:nvSpPr>
          <p:cNvPr id="153" name="Body"/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/>
          </a:bodyPr>
          <a:lstStyle/>
          <a:p>
            <a:r>
              <a:rPr lang="en-GB" dirty="0"/>
              <a:t>When you create visuals to present your data:</a:t>
            </a:r>
          </a:p>
          <a:p>
            <a:pPr marL="1352550" lvl="1" indent="-742950">
              <a:buFont typeface="+mj-lt"/>
              <a:buAutoNum type="arabicPeriod"/>
            </a:pPr>
            <a:endParaRPr lang="en-GB" sz="4400" dirty="0"/>
          </a:p>
          <a:p>
            <a:pPr marL="1352550" lvl="1" indent="-742950">
              <a:buFont typeface="+mj-lt"/>
              <a:buAutoNum type="arabicPeriod"/>
            </a:pPr>
            <a:r>
              <a:rPr lang="en-GB" sz="4400" dirty="0"/>
              <a:t>Less is more effective</a:t>
            </a:r>
          </a:p>
          <a:p>
            <a:pPr marL="1352550" lvl="1" indent="-742950">
              <a:buFont typeface="+mj-lt"/>
              <a:buAutoNum type="arabicPeriod"/>
            </a:pPr>
            <a:endParaRPr lang="en-GB" sz="4400" dirty="0"/>
          </a:p>
          <a:p>
            <a:pPr marL="1352550" lvl="1" indent="-742950">
              <a:buFont typeface="+mj-lt"/>
              <a:buAutoNum type="arabicPeriod"/>
            </a:pPr>
            <a:r>
              <a:rPr lang="en-GB" sz="4400" dirty="0"/>
              <a:t>Less is more attractive</a:t>
            </a:r>
          </a:p>
          <a:p>
            <a:pPr marL="1352550" lvl="1" indent="-742950">
              <a:buFont typeface="+mj-lt"/>
              <a:buAutoNum type="arabicPeriod"/>
            </a:pPr>
            <a:endParaRPr lang="en-GB" sz="4400" dirty="0"/>
          </a:p>
          <a:p>
            <a:pPr marL="1352550" lvl="1" indent="-742950">
              <a:buFont typeface="+mj-lt"/>
              <a:buAutoNum type="arabicPeriod"/>
            </a:pPr>
            <a:r>
              <a:rPr lang="en-GB" sz="4400" dirty="0"/>
              <a:t>Less is more impactive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5828554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Level of Detail</a:t>
            </a:r>
            <a:endParaRPr dirty="0"/>
          </a:p>
        </p:txBody>
      </p:sp>
      <p:sp>
        <p:nvSpPr>
          <p:cNvPr id="153" name="Body"/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/>
          </a:bodyPr>
          <a:lstStyle/>
          <a:p>
            <a:r>
              <a:rPr lang="en-GB" dirty="0"/>
              <a:t>Less is good but how much is enough? How to decide?</a:t>
            </a:r>
          </a:p>
          <a:p>
            <a:endParaRPr lang="en-GB" dirty="0"/>
          </a:p>
          <a:p>
            <a:r>
              <a:rPr lang="en-GB" dirty="0"/>
              <a:t>Level of detail you should include also depends on the mode of the presentation</a:t>
            </a:r>
          </a:p>
          <a:p>
            <a:pPr lvl="1"/>
            <a:r>
              <a:rPr lang="en-GB" dirty="0"/>
              <a:t>If you are live-presenting to an audience, you may not need a lot of details because you have more control on your message  </a:t>
            </a:r>
          </a:p>
          <a:p>
            <a:pPr lvl="1"/>
            <a:r>
              <a:rPr lang="en-GB" dirty="0"/>
              <a:t>If you are preparing a report/written document, you may need to include more details.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3004957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Level of Detail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273E4E-6390-48D3-93A5-1C611BBBD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03" y="3700580"/>
            <a:ext cx="13442363" cy="8753857"/>
          </a:xfrm>
          <a:prstGeom prst="rect">
            <a:avLst/>
          </a:prstGeom>
        </p:spPr>
      </p:pic>
      <p:sp>
        <p:nvSpPr>
          <p:cNvPr id="153" name="Body"/>
          <p:cNvSpPr txBox="1">
            <a:spLocks noGrp="1"/>
          </p:cNvSpPr>
          <p:nvPr>
            <p:ph type="body" idx="1"/>
          </p:nvPr>
        </p:nvSpPr>
        <p:spPr>
          <a:xfrm>
            <a:off x="14423978" y="3725977"/>
            <a:ext cx="9023444" cy="8728467"/>
          </a:xfrm>
          <a:prstGeom prst="rect">
            <a:avLst/>
          </a:prstGeom>
        </p:spPr>
        <p:txBody>
          <a:bodyPr anchor="t" anchorCtr="0">
            <a:normAutofit/>
          </a:bodyPr>
          <a:lstStyle/>
          <a:p>
            <a:r>
              <a:rPr lang="en-GB" b="1" dirty="0"/>
              <a:t>Source: </a:t>
            </a:r>
            <a:r>
              <a:rPr lang="en-GB" i="1" dirty="0"/>
              <a:t>Storytelling with data</a:t>
            </a:r>
            <a:r>
              <a:rPr lang="en-GB" dirty="0"/>
              <a:t> by Cole </a:t>
            </a:r>
            <a:r>
              <a:rPr lang="en-GB" dirty="0" err="1"/>
              <a:t>Nussbaumer</a:t>
            </a:r>
            <a:r>
              <a:rPr lang="en-GB" dirty="0"/>
              <a:t> </a:t>
            </a:r>
            <a:r>
              <a:rPr lang="en-GB" dirty="0" err="1"/>
              <a:t>Knaflic</a:t>
            </a:r>
            <a:endParaRPr lang="en-GB" dirty="0"/>
          </a:p>
          <a:p>
            <a:endParaRPr lang="en-GB" dirty="0"/>
          </a:p>
          <a:p>
            <a:r>
              <a:rPr lang="en-GB" dirty="0"/>
              <a:t>Recommended reading </a:t>
            </a: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endParaRPr sz="8000"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34574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Context is Important</a:t>
            </a:r>
            <a:endParaRPr dirty="0"/>
          </a:p>
        </p:txBody>
      </p:sp>
      <p:sp>
        <p:nvSpPr>
          <p:cNvPr id="153" name="Body"/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/>
          </a:bodyPr>
          <a:lstStyle/>
          <a:p>
            <a:r>
              <a:rPr lang="en-GB" dirty="0"/>
              <a:t>Exploratory vs Explanatory Analysis</a:t>
            </a:r>
          </a:p>
          <a:p>
            <a:pPr lvl="1"/>
            <a:r>
              <a:rPr lang="en-GB" dirty="0"/>
              <a:t>In exploratory analysis, we may produce hundreds of graphs/figures to understand the data</a:t>
            </a:r>
          </a:p>
          <a:p>
            <a:pPr lvl="1"/>
            <a:r>
              <a:rPr lang="en-GB" dirty="0"/>
              <a:t>But when it comes to present it to the others only choose a few that conveys our message</a:t>
            </a:r>
          </a:p>
          <a:p>
            <a:pPr lvl="1"/>
            <a:r>
              <a:rPr lang="en-GB" dirty="0"/>
              <a:t>Don’t be tempted to present every single plot your exploratory analysis produces</a:t>
            </a:r>
          </a:p>
          <a:p>
            <a:pPr lvl="1"/>
            <a:r>
              <a:rPr lang="en-GB" dirty="0"/>
              <a:t>Less is more when it comes to conveying your message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8901241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Choosing the Right Graph</a:t>
            </a:r>
            <a:endParaRPr dirty="0"/>
          </a:p>
        </p:txBody>
      </p:sp>
      <p:sp>
        <p:nvSpPr>
          <p:cNvPr id="153" name="Body"/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/>
          </a:bodyPr>
          <a:lstStyle/>
          <a:p>
            <a:r>
              <a:rPr lang="en-GB" dirty="0"/>
              <a:t>When visualizing data, our aim, more often than not, fall into one (or two) of the four categories listed below: </a:t>
            </a:r>
          </a:p>
          <a:p>
            <a:pPr lvl="1"/>
            <a:r>
              <a:rPr lang="en-GB" dirty="0"/>
              <a:t>Make </a:t>
            </a:r>
            <a:r>
              <a:rPr lang="en-GB" dirty="0">
                <a:solidFill>
                  <a:srgbClr val="FF0000"/>
                </a:solidFill>
              </a:rPr>
              <a:t>comparisons</a:t>
            </a:r>
          </a:p>
          <a:p>
            <a:pPr lvl="1"/>
            <a:r>
              <a:rPr lang="en-GB" dirty="0"/>
              <a:t>Show the </a:t>
            </a:r>
            <a:r>
              <a:rPr lang="en-GB" dirty="0">
                <a:solidFill>
                  <a:srgbClr val="FF0000"/>
                </a:solidFill>
              </a:rPr>
              <a:t>composition</a:t>
            </a:r>
            <a:r>
              <a:rPr lang="en-GB" dirty="0"/>
              <a:t> of a whole</a:t>
            </a:r>
          </a:p>
          <a:p>
            <a:pPr lvl="1"/>
            <a:r>
              <a:rPr lang="en-GB" dirty="0"/>
              <a:t>Show </a:t>
            </a:r>
            <a:r>
              <a:rPr lang="en-GB" dirty="0">
                <a:solidFill>
                  <a:srgbClr val="FF0000"/>
                </a:solidFill>
              </a:rPr>
              <a:t>relationships</a:t>
            </a:r>
          </a:p>
          <a:p>
            <a:pPr lvl="1"/>
            <a:r>
              <a:rPr lang="en-GB" dirty="0"/>
              <a:t>Visualize the </a:t>
            </a:r>
            <a:r>
              <a:rPr lang="en-GB" dirty="0">
                <a:solidFill>
                  <a:srgbClr val="FF0000"/>
                </a:solidFill>
              </a:rPr>
              <a:t>distribution</a:t>
            </a:r>
            <a:r>
              <a:rPr lang="en-GB" dirty="0"/>
              <a:t> of the data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52" name="Picture 8" descr="Choosing Broadband for Businesses is a 3-Step Decision ...">
            <a:extLst>
              <a:ext uri="{FF2B5EF4-FFF2-40B4-BE49-F238E27FC236}">
                <a16:creationId xmlns:a16="http://schemas.microsoft.com/office/drawing/2014/main" id="{2EB7651E-1F6E-44C3-9330-4940CC77B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6361" y="7463935"/>
            <a:ext cx="7321287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893529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Choosing the Right Graph</a:t>
            </a:r>
            <a:endParaRPr dirty="0"/>
          </a:p>
        </p:txBody>
      </p:sp>
      <p:sp>
        <p:nvSpPr>
          <p:cNvPr id="153" name="Body"/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/>
          </a:bodyPr>
          <a:lstStyle/>
          <a:p>
            <a:r>
              <a:rPr lang="en-GB" dirty="0"/>
              <a:t>Other factors that may affect your choice in a graph:</a:t>
            </a:r>
          </a:p>
          <a:p>
            <a:pPr lvl="1"/>
            <a:r>
              <a:rPr lang="en-GB" dirty="0"/>
              <a:t>Is your data changing over time or static?</a:t>
            </a:r>
          </a:p>
          <a:p>
            <a:pPr lvl="2"/>
            <a:r>
              <a:rPr lang="en-GB" dirty="0"/>
              <a:t>If changes over time, what is the time horizon? </a:t>
            </a:r>
          </a:p>
          <a:p>
            <a:pPr lvl="1"/>
            <a:r>
              <a:rPr lang="en-GB" dirty="0"/>
              <a:t>How many variables you want to compare / present</a:t>
            </a:r>
          </a:p>
          <a:p>
            <a:endParaRPr lang="en-GB" dirty="0"/>
          </a:p>
          <a:p>
            <a:r>
              <a:rPr lang="en-GB" dirty="0"/>
              <a:t>When we answer these questions, we narrow down our search</a:t>
            </a:r>
          </a:p>
          <a:p>
            <a:pPr marL="0" indent="0">
              <a:buNone/>
            </a:pPr>
            <a:r>
              <a:rPr lang="en-GB" dirty="0"/>
              <a:t> 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8171074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Choosing the Right Graph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7A0D22-C4AB-437D-86E5-33C0EBA30B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92" b="3906"/>
          <a:stretch/>
        </p:blipFill>
        <p:spPr>
          <a:xfrm>
            <a:off x="4089780" y="2538738"/>
            <a:ext cx="16220361" cy="1047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595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Choosing the Right Graph: Pitfalls</a:t>
            </a:r>
            <a:endParaRPr dirty="0"/>
          </a:p>
        </p:txBody>
      </p:sp>
      <p:sp>
        <p:nvSpPr>
          <p:cNvPr id="153" name="Body"/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 lnSpcReduction="10000"/>
          </a:bodyPr>
          <a:lstStyle/>
          <a:p>
            <a:r>
              <a:rPr lang="en-GB" dirty="0"/>
              <a:t>Using a pie or donut chart</a:t>
            </a:r>
          </a:p>
          <a:p>
            <a:pPr lvl="1"/>
            <a:r>
              <a:rPr lang="en-GB" dirty="0"/>
              <a:t>When visualizing a composition, try to avoid pie charts. Can be used when graphing the share of a single element in a whole</a:t>
            </a:r>
          </a:p>
          <a:p>
            <a:pPr lvl="1"/>
            <a:r>
              <a:rPr lang="en-GB" dirty="0"/>
              <a:t>Use Column or Bar charts instead: Humans can compare linear elements easier than arcs and areas. </a:t>
            </a:r>
          </a:p>
          <a:p>
            <a:endParaRPr lang="en-GB" dirty="0"/>
          </a:p>
          <a:p>
            <a:r>
              <a:rPr lang="en-GB" dirty="0"/>
              <a:t>Avoid 3D: Use it when you really need 3 dimensions (i.e. you have 3 variables to plot) </a:t>
            </a:r>
          </a:p>
          <a:p>
            <a:pPr marL="0" indent="0">
              <a:buNone/>
            </a:pPr>
            <a:r>
              <a:rPr lang="en-GB" dirty="0"/>
              <a:t>  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7233574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Choosing the Right Graph: Pitfalls</a:t>
            </a:r>
            <a:endParaRPr dirty="0"/>
          </a:p>
        </p:txBody>
      </p:sp>
      <p:sp>
        <p:nvSpPr>
          <p:cNvPr id="153" name="Body"/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/>
          </a:bodyPr>
          <a:lstStyle/>
          <a:p>
            <a:r>
              <a:rPr lang="en-GB" dirty="0"/>
              <a:t>Example of a less than stellar visual: </a:t>
            </a:r>
          </a:p>
          <a:p>
            <a:pPr marL="60960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0EF8525-EA8D-4098-BF2C-EE9D82293C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4388632"/>
              </p:ext>
            </p:extLst>
          </p:nvPr>
        </p:nvGraphicFramePr>
        <p:xfrm>
          <a:off x="1568130" y="4914899"/>
          <a:ext cx="9630508" cy="7496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Body">
            <a:extLst>
              <a:ext uri="{FF2B5EF4-FFF2-40B4-BE49-F238E27FC236}">
                <a16:creationId xmlns:a16="http://schemas.microsoft.com/office/drawing/2014/main" id="{5E2B52A9-1F0E-45D0-A0B0-E4D0A17BF509}"/>
              </a:ext>
            </a:extLst>
          </p:cNvPr>
          <p:cNvSpPr txBox="1">
            <a:spLocks/>
          </p:cNvSpPr>
          <p:nvPr/>
        </p:nvSpPr>
        <p:spPr>
          <a:xfrm>
            <a:off x="13487400" y="4445000"/>
            <a:ext cx="10269415" cy="857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 anchorCtr="0">
            <a:normAutofit/>
          </a:bodyPr>
          <a:lstStyle>
            <a:lvl1pPr marL="6096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1pPr>
            <a:lvl2pPr marL="12192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2pPr>
            <a:lvl3pPr marL="18288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3pPr>
            <a:lvl4pPr marL="24384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4pPr>
            <a:lvl5pPr marL="30480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5pPr>
            <a:lvl6pPr marL="36576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6pPr>
            <a:lvl7pPr marL="42672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7pPr>
            <a:lvl8pPr marL="48768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8pPr>
            <a:lvl9pPr marL="54864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4876800" lvl="8" indent="0" hangingPunct="1">
              <a:buNone/>
            </a:pPr>
            <a:endParaRPr lang="en-GB" dirty="0"/>
          </a:p>
          <a:p>
            <a:pPr lvl="1"/>
            <a:r>
              <a:rPr lang="en-GB" dirty="0"/>
              <a:t>A pie chart</a:t>
            </a:r>
          </a:p>
          <a:p>
            <a:pPr lvl="1"/>
            <a:r>
              <a:rPr lang="en-GB" dirty="0"/>
              <a:t>Use of 3D</a:t>
            </a:r>
          </a:p>
          <a:p>
            <a:pPr lvl="1"/>
            <a:r>
              <a:rPr lang="en-GB" dirty="0"/>
              <a:t>Unnecessary background pattern</a:t>
            </a:r>
          </a:p>
          <a:p>
            <a:pPr lvl="1"/>
            <a:r>
              <a:rPr lang="en-GB" dirty="0"/>
              <a:t>Too much </a:t>
            </a:r>
            <a:r>
              <a:rPr lang="en-GB" dirty="0" err="1"/>
              <a:t>color</a:t>
            </a:r>
            <a:endParaRPr lang="en-GB" dirty="0"/>
          </a:p>
          <a:p>
            <a:pPr marL="0" indent="0" hangingPunct="1">
              <a:buNone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60016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Choosing the Right Graph: Pitfalls</a:t>
            </a:r>
            <a:endParaRPr dirty="0"/>
          </a:p>
        </p:txBody>
      </p:sp>
      <p:sp>
        <p:nvSpPr>
          <p:cNvPr id="153" name="Body"/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/>
          </a:bodyPr>
          <a:lstStyle/>
          <a:p>
            <a:r>
              <a:rPr lang="en-GB" dirty="0"/>
              <a:t>Example of a less than stellar visual: </a:t>
            </a:r>
          </a:p>
          <a:p>
            <a:pPr marL="60960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0EF8525-EA8D-4098-BF2C-EE9D82293C0E}"/>
              </a:ext>
            </a:extLst>
          </p:cNvPr>
          <p:cNvGraphicFramePr>
            <a:graphicFrameLocks/>
          </p:cNvGraphicFramePr>
          <p:nvPr/>
        </p:nvGraphicFramePr>
        <p:xfrm>
          <a:off x="1568130" y="4914899"/>
          <a:ext cx="9630508" cy="7496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C39C3C94-C433-4590-88BA-6C2AC8A2887E}"/>
              </a:ext>
            </a:extLst>
          </p:cNvPr>
          <p:cNvSpPr/>
          <p:nvPr/>
        </p:nvSpPr>
        <p:spPr>
          <a:xfrm>
            <a:off x="11605846" y="8053754"/>
            <a:ext cx="1828800" cy="1462086"/>
          </a:xfrm>
          <a:prstGeom prst="rightArrow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25400" dist="33948" dir="2700000" rotWithShape="0">
                  <a:srgbClr val="3B3936"/>
                </a:outerShdw>
              </a:effectLst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4337867-99B7-40AB-834C-42CBFA4DA93D}"/>
              </a:ext>
            </a:extLst>
          </p:cNvPr>
          <p:cNvGraphicFramePr>
            <a:graphicFrameLocks/>
          </p:cNvGraphicFramePr>
          <p:nvPr/>
        </p:nvGraphicFramePr>
        <p:xfrm>
          <a:off x="13866215" y="4914899"/>
          <a:ext cx="8949655" cy="7496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22254782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Choosing the Right Graph: Pitfalls</a:t>
            </a:r>
            <a:endParaRPr dirty="0"/>
          </a:p>
        </p:txBody>
      </p:sp>
      <p:sp>
        <p:nvSpPr>
          <p:cNvPr id="153" name="Body"/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/>
          </a:bodyPr>
          <a:lstStyle/>
          <a:p>
            <a:r>
              <a:rPr lang="en-GB" dirty="0"/>
              <a:t>Using a second y-axis:   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490684-4C04-4FD6-870E-A15860725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175264"/>
            <a:ext cx="9075472" cy="6641595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6BBCB2C-A03F-4CC0-863B-8CC676EDCA65}"/>
              </a:ext>
            </a:extLst>
          </p:cNvPr>
          <p:cNvSpPr/>
          <p:nvPr/>
        </p:nvSpPr>
        <p:spPr>
          <a:xfrm>
            <a:off x="10410092" y="7543800"/>
            <a:ext cx="2620108" cy="1705708"/>
          </a:xfrm>
          <a:prstGeom prst="rightArrow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4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25400" dist="33948" dir="2700000" rotWithShape="0">
                  <a:srgbClr val="3B3936"/>
                </a:outerShdw>
              </a:effectLst>
              <a:uFillTx/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12" name="Body">
            <a:extLst>
              <a:ext uri="{FF2B5EF4-FFF2-40B4-BE49-F238E27FC236}">
                <a16:creationId xmlns:a16="http://schemas.microsoft.com/office/drawing/2014/main" id="{5E94E6CC-5BEE-4B3E-A73E-8FB6D7EC587B}"/>
              </a:ext>
            </a:extLst>
          </p:cNvPr>
          <p:cNvSpPr txBox="1">
            <a:spLocks/>
          </p:cNvSpPr>
          <p:nvPr/>
        </p:nvSpPr>
        <p:spPr>
          <a:xfrm>
            <a:off x="952500" y="12346855"/>
            <a:ext cx="12457171" cy="94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 anchorCtr="0">
            <a:normAutofit/>
          </a:bodyPr>
          <a:lstStyle>
            <a:lvl1pPr marL="6096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1pPr>
            <a:lvl2pPr marL="12192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2pPr>
            <a:lvl3pPr marL="18288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3pPr>
            <a:lvl4pPr marL="24384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4pPr>
            <a:lvl5pPr marL="30480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5pPr>
            <a:lvl6pPr marL="36576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6pPr>
            <a:lvl7pPr marL="42672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7pPr>
            <a:lvl8pPr marL="48768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8pPr>
            <a:lvl9pPr marL="5486400" marR="0" indent="-609600" algn="l" defTabSz="825500" rtl="0" latinLnBrk="0">
              <a:lnSpc>
                <a:spcPct val="100000"/>
              </a:lnSpc>
              <a:spcBef>
                <a:spcPts val="3400"/>
              </a:spcBef>
              <a:spcAft>
                <a:spcPts val="0"/>
              </a:spcAft>
              <a:buClr>
                <a:srgbClr val="929292"/>
              </a:buClr>
              <a:buSzPct val="60000"/>
              <a:buFont typeface="Zapf Dingbats"/>
              <a:buChar char="❖"/>
              <a:tabLst/>
              <a:defRPr sz="5000" b="0" i="0" u="none" strike="noStrike" cap="none" spc="0" baseline="0">
                <a:solidFill>
                  <a:srgbClr val="414141"/>
                </a:solidFill>
                <a:uFillTx/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hangingPunct="1"/>
            <a:r>
              <a:rPr lang="en-GB" sz="3200" b="1" dirty="0"/>
              <a:t>Source: </a:t>
            </a:r>
            <a:r>
              <a:rPr lang="en-GB" sz="3200" i="1" dirty="0"/>
              <a:t>Storytelling with data</a:t>
            </a:r>
            <a:r>
              <a:rPr lang="en-GB" sz="3200" dirty="0"/>
              <a:t> by Cole </a:t>
            </a:r>
            <a:r>
              <a:rPr lang="en-GB" sz="3200" dirty="0" err="1"/>
              <a:t>Nussbaumer</a:t>
            </a:r>
            <a:r>
              <a:rPr lang="en-GB" sz="3200" dirty="0"/>
              <a:t> </a:t>
            </a:r>
            <a:r>
              <a:rPr lang="en-GB" sz="3200" dirty="0" err="1"/>
              <a:t>Knaflic</a:t>
            </a:r>
            <a:endParaRPr lang="en-GB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2986F-3293-4388-AA80-D155088F4C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62315" y="3341369"/>
            <a:ext cx="7564636" cy="66415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528083-2AAE-444F-9C73-E433E76E09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21594" y="6137031"/>
            <a:ext cx="6732734" cy="635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962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1B06F-D1DE-4E09-9638-8AFEF85B8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Material: IBCS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1C690-7D18-4F05-854B-147B72778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r>
              <a:rPr lang="en-US" dirty="0"/>
              <a:t>The International Business Communication Standards are </a:t>
            </a:r>
            <a:r>
              <a:rPr lang="en-US" dirty="0">
                <a:solidFill>
                  <a:srgbClr val="FF0000"/>
                </a:solidFill>
              </a:rPr>
              <a:t>practical proposals for the design of reports, presentations, dashboards and the diagrams and tables</a:t>
            </a:r>
            <a:r>
              <a:rPr lang="en-US" dirty="0"/>
              <a:t> contained therein. </a:t>
            </a:r>
          </a:p>
          <a:p>
            <a:r>
              <a:rPr lang="en-US" dirty="0"/>
              <a:t>This involves the conception of the content, the visual perception and the application of a semantic notation. The further development of the IBCS Standards is an ongoing process.</a:t>
            </a:r>
          </a:p>
          <a:p>
            <a:r>
              <a:rPr lang="en-US" dirty="0"/>
              <a:t>IBCS are managed by the </a:t>
            </a:r>
            <a:r>
              <a:rPr lang="en-US" dirty="0">
                <a:solidFill>
                  <a:srgbClr val="FF0000"/>
                </a:solidFill>
              </a:rPr>
              <a:t>not-for-profit</a:t>
            </a:r>
            <a:r>
              <a:rPr lang="en-US" dirty="0"/>
              <a:t> IBCS Association</a:t>
            </a:r>
          </a:p>
        </p:txBody>
      </p:sp>
    </p:spTree>
    <p:extLst>
      <p:ext uri="{BB962C8B-B14F-4D97-AF65-F5344CB8AC3E}">
        <p14:creationId xmlns:p14="http://schemas.microsoft.com/office/powerpoint/2010/main" val="51240402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6400A-1CD4-4A61-B4A6-A077B0CF5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IBCS: Perceptual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1F1C7-D994-4889-B4DD-DBF93EC19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10989425"/>
            <a:ext cx="22479000" cy="1278774"/>
          </a:xfrm>
        </p:spPr>
        <p:txBody>
          <a:bodyPr anchor="t"/>
          <a:lstStyle/>
          <a:p>
            <a:r>
              <a:rPr lang="en-US" dirty="0"/>
              <a:t>Link: </a:t>
            </a:r>
            <a:r>
              <a:rPr lang="en-US" dirty="0">
                <a:hlinkClick r:id="rId2"/>
              </a:rPr>
              <a:t>https://www.ibcs.com/standards/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6E5E50-D1CB-4983-B813-42ABBC8EE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81" y="3609831"/>
            <a:ext cx="11961153" cy="60828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6FBDFF-19AC-48C3-A11D-1B0859C0B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6405" y="3593206"/>
            <a:ext cx="12152814" cy="608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9348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Matplotlib Library</a:t>
            </a:r>
            <a:endParaRPr dirty="0"/>
          </a:p>
        </p:txBody>
      </p:sp>
      <p:sp>
        <p:nvSpPr>
          <p:cNvPr id="153" name="Body"/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 lnSpcReduction="10000"/>
          </a:bodyPr>
          <a:lstStyle/>
          <a:p>
            <a:r>
              <a:rPr lang="en-GB" dirty="0"/>
              <a:t>Matplotlib is an open-source library that is used to create a variety of plots</a:t>
            </a:r>
          </a:p>
          <a:p>
            <a:endParaRPr lang="en-GB" dirty="0"/>
          </a:p>
          <a:p>
            <a:r>
              <a:rPr lang="en-GB" dirty="0"/>
              <a:t>It is the go-to library for data-visualization in Python </a:t>
            </a:r>
          </a:p>
          <a:p>
            <a:endParaRPr lang="en-GB" dirty="0"/>
          </a:p>
          <a:p>
            <a:r>
              <a:rPr lang="en-GB" dirty="0"/>
              <a:t>It gives user a lot of control on how the figure looks</a:t>
            </a:r>
          </a:p>
          <a:p>
            <a:endParaRPr lang="en-GB" dirty="0"/>
          </a:p>
          <a:p>
            <a:r>
              <a:rPr lang="en-GB" dirty="0"/>
              <a:t>Originally developed by John D. Hunter to emulate a </a:t>
            </a:r>
            <a:r>
              <a:rPr lang="en-GB" dirty="0" err="1"/>
              <a:t>Matlab</a:t>
            </a:r>
            <a:r>
              <a:rPr lang="en-GB" dirty="0"/>
              <a:t>-like plotting environment for Python</a:t>
            </a:r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35C4AA1-C58F-4DF8-90B2-93B24AE57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76079" y="6787171"/>
            <a:ext cx="6744860" cy="161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67440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Matplotlib Architecture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10" name="Picture 2" descr="https://delftswa.gitbooks.io/desosa-2017/content/matplotlib/images-matplotlib/functional_view.png">
            <a:extLst>
              <a:ext uri="{FF2B5EF4-FFF2-40B4-BE49-F238E27FC236}">
                <a16:creationId xmlns:a16="http://schemas.microsoft.com/office/drawing/2014/main" id="{36B417FF-6658-411A-893D-005229E51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1" y="2438399"/>
            <a:ext cx="18288000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6C61E9-73F5-4E3F-B7EB-46EE5C4832C6}"/>
              </a:ext>
            </a:extLst>
          </p:cNvPr>
          <p:cNvSpPr txBox="1"/>
          <p:nvPr/>
        </p:nvSpPr>
        <p:spPr>
          <a:xfrm>
            <a:off x="10780347" y="6459375"/>
            <a:ext cx="3077307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800" i="0" u="none" strike="noStrike" cap="none" spc="0" normalizeH="0" baseline="0" dirty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(</a:t>
            </a:r>
            <a:r>
              <a:rPr kumimoji="0" lang="en-GB" sz="2800" i="0" u="none" strike="noStrike" cap="none" spc="0" normalizeH="0" baseline="0" dirty="0" err="1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pyplot</a:t>
            </a:r>
            <a:r>
              <a:rPr kumimoji="0" lang="en-GB" sz="2800" i="0" u="none" strike="noStrike" cap="none" spc="0" normalizeH="0" baseline="0" dirty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5B659E-0081-4153-9929-CF518112CAFE}"/>
              </a:ext>
            </a:extLst>
          </p:cNvPr>
          <p:cNvSpPr txBox="1"/>
          <p:nvPr/>
        </p:nvSpPr>
        <p:spPr>
          <a:xfrm>
            <a:off x="10780347" y="8905723"/>
            <a:ext cx="3077307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800" i="0" u="none" strike="noStrike" cap="none" spc="0" normalizeH="0" baseline="0" dirty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(Artist)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1DBEA-CBA2-4009-8DF9-E675D4744952}"/>
              </a:ext>
            </a:extLst>
          </p:cNvPr>
          <p:cNvSpPr txBox="1"/>
          <p:nvPr/>
        </p:nvSpPr>
        <p:spPr>
          <a:xfrm>
            <a:off x="9021885" y="11352071"/>
            <a:ext cx="6594231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2800" i="0" u="none" strike="noStrike" cap="none" spc="0" normalizeH="0" baseline="0" dirty="0">
                <a:ln>
                  <a:noFill/>
                </a:ln>
                <a:solidFill>
                  <a:srgbClr val="414141"/>
                </a:solidFill>
                <a:effectLst/>
                <a:uFillTx/>
                <a:latin typeface="Palatino"/>
                <a:ea typeface="Palatino"/>
                <a:cs typeface="Palatino"/>
                <a:sym typeface="Palatino"/>
              </a:rPr>
              <a:t>(Figure Canvas, Rendered, Event)</a:t>
            </a:r>
          </a:p>
        </p:txBody>
      </p:sp>
    </p:spTree>
    <p:extLst>
      <p:ext uri="{BB962C8B-B14F-4D97-AF65-F5344CB8AC3E}">
        <p14:creationId xmlns:p14="http://schemas.microsoft.com/office/powerpoint/2010/main" val="301955211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Matplotlib Architecture: Backend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">
            <a:extLst>
              <a:ext uri="{FF2B5EF4-FFF2-40B4-BE49-F238E27FC236}">
                <a16:creationId xmlns:a16="http://schemas.microsoft.com/office/drawing/2014/main" id="{9D8A777C-E5E1-4274-9E2E-F9FBCB87D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/>
          </a:bodyPr>
          <a:lstStyle/>
          <a:p>
            <a:r>
              <a:rPr lang="en-GB" dirty="0"/>
              <a:t>Includes three abstract classes: </a:t>
            </a:r>
          </a:p>
          <a:p>
            <a:pPr lvl="1"/>
            <a:r>
              <a:rPr lang="en-GB" b="1" dirty="0"/>
              <a:t>Figure Canvas</a:t>
            </a:r>
            <a:r>
              <a:rPr lang="en-GB" dirty="0"/>
              <a:t> (</a:t>
            </a:r>
            <a:r>
              <a:rPr lang="en-US" altLang="en-US" dirty="0" err="1">
                <a:solidFill>
                  <a:srgbClr val="292929"/>
                </a:solidFill>
                <a:hlinkClick r:id="rId3"/>
              </a:rPr>
              <a:t>matplotlib.backend_bases.FigureCanvasBase</a:t>
            </a:r>
            <a:r>
              <a:rPr lang="en-US" altLang="en-US" sz="5400" dirty="0">
                <a:solidFill>
                  <a:srgbClr val="292929"/>
                </a:solidFill>
                <a:latin typeface="Menlo"/>
              </a:rPr>
              <a:t>):</a:t>
            </a:r>
            <a:r>
              <a:rPr lang="en-US" altLang="en-US" sz="7200" b="1" dirty="0">
                <a:solidFill>
                  <a:srgbClr val="292929"/>
                </a:solidFill>
                <a:latin typeface="medium-content-serif-font"/>
              </a:rPr>
              <a:t> </a:t>
            </a:r>
            <a:r>
              <a:rPr lang="en-GB" dirty="0"/>
              <a:t>The canvas the figure renders into. </a:t>
            </a:r>
          </a:p>
          <a:p>
            <a:pPr lvl="1"/>
            <a:r>
              <a:rPr lang="en-US" altLang="en-US" b="1" dirty="0"/>
              <a:t>Renderer</a:t>
            </a:r>
            <a:r>
              <a:rPr lang="en-US" altLang="en-US" b="1" dirty="0">
                <a:solidFill>
                  <a:srgbClr val="292929"/>
                </a:solidFill>
              </a:rPr>
              <a:t> (</a:t>
            </a:r>
            <a:r>
              <a:rPr lang="en-US" altLang="en-US" dirty="0" err="1">
                <a:solidFill>
                  <a:srgbClr val="292929"/>
                </a:solidFill>
                <a:hlinkClick r:id="rId4"/>
              </a:rPr>
              <a:t>matplotlib.backend_bases.RendererBase</a:t>
            </a:r>
            <a:r>
              <a:rPr lang="en-US" altLang="en-US" b="1" dirty="0">
                <a:solidFill>
                  <a:srgbClr val="292929"/>
                </a:solidFill>
              </a:rPr>
              <a:t>)</a:t>
            </a:r>
            <a:r>
              <a:rPr lang="en-US" altLang="en-US" dirty="0">
                <a:solidFill>
                  <a:srgbClr val="292929"/>
                </a:solidFill>
              </a:rPr>
              <a:t>:</a:t>
            </a:r>
            <a:r>
              <a:rPr lang="en-US" altLang="en-US" b="1" dirty="0">
                <a:solidFill>
                  <a:srgbClr val="292929"/>
                </a:solidFill>
              </a:rPr>
              <a:t> </a:t>
            </a:r>
            <a:r>
              <a:rPr lang="en-US" altLang="en-US" dirty="0">
                <a:solidFill>
                  <a:srgbClr val="292929"/>
                </a:solidFill>
              </a:rPr>
              <a:t>An abstract base class to handle drawing/rendering operations. Responsible to draw in the </a:t>
            </a:r>
            <a:r>
              <a:rPr lang="en-US" altLang="en-US" dirty="0" err="1">
                <a:solidFill>
                  <a:srgbClr val="292929"/>
                </a:solidFill>
              </a:rPr>
              <a:t>FigureCanvas</a:t>
            </a:r>
            <a:r>
              <a:rPr lang="en-US" altLang="en-US" dirty="0">
                <a:solidFill>
                  <a:srgbClr val="292929"/>
                </a:solidFill>
              </a:rPr>
              <a:t>.</a:t>
            </a:r>
          </a:p>
          <a:p>
            <a:pPr lvl="1"/>
            <a:r>
              <a:rPr lang="en-US" altLang="en-US" b="1" dirty="0"/>
              <a:t>Event</a:t>
            </a:r>
            <a:r>
              <a:rPr lang="en-US" altLang="en-US" b="1" dirty="0">
                <a:solidFill>
                  <a:srgbClr val="292929"/>
                </a:solidFill>
              </a:rPr>
              <a:t> (</a:t>
            </a:r>
            <a:r>
              <a:rPr lang="en-US" altLang="en-US" dirty="0" err="1">
                <a:solidFill>
                  <a:srgbClr val="292929"/>
                </a:solidFill>
                <a:hlinkClick r:id="rId4"/>
              </a:rPr>
              <a:t>matplotlib.backend_bases.Event</a:t>
            </a:r>
            <a:r>
              <a:rPr lang="en-US" altLang="en-US" b="1" dirty="0">
                <a:solidFill>
                  <a:srgbClr val="292929"/>
                </a:solidFill>
              </a:rPr>
              <a:t>)</a:t>
            </a:r>
            <a:r>
              <a:rPr lang="en-US" altLang="en-US" dirty="0">
                <a:solidFill>
                  <a:srgbClr val="292929"/>
                </a:solidFill>
              </a:rPr>
              <a:t>: Handles user inputs such as keyboard and mouse clicks.</a:t>
            </a:r>
            <a:endParaRPr lang="en-US" altLang="en-US" dirty="0">
              <a:solidFill>
                <a:schemeClr val="tx1"/>
              </a:solidFill>
            </a:endParaRP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646183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Matplotlib Architecture: Artist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">
            <a:extLst>
              <a:ext uri="{FF2B5EF4-FFF2-40B4-BE49-F238E27FC236}">
                <a16:creationId xmlns:a16="http://schemas.microsoft.com/office/drawing/2014/main" id="{9D8A777C-E5E1-4274-9E2E-F9FBCB87D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 fontScale="92500" lnSpcReduction="10000"/>
          </a:bodyPr>
          <a:lstStyle/>
          <a:p>
            <a:r>
              <a:rPr lang="en-GB" dirty="0"/>
              <a:t>It is composed of a single object type called </a:t>
            </a:r>
            <a:r>
              <a:rPr lang="en-GB" i="1" dirty="0"/>
              <a:t>Artist. </a:t>
            </a:r>
            <a:r>
              <a:rPr lang="en-GB" dirty="0"/>
              <a:t>Everything we see on a Matplotlib figure is an artist instance</a:t>
            </a:r>
            <a:endParaRPr lang="en-GB" i="1" dirty="0"/>
          </a:p>
          <a:p>
            <a:r>
              <a:rPr lang="en-GB" dirty="0"/>
              <a:t>Artist object uses the Renderer to draw on the canvas. It allows you to do more customization compare to the Scripting layer and is more convenient </a:t>
            </a:r>
            <a:r>
              <a:rPr lang="en-GB" dirty="0">
                <a:solidFill>
                  <a:srgbClr val="FF0000"/>
                </a:solidFill>
              </a:rPr>
              <a:t>for advanced plots</a:t>
            </a:r>
            <a:r>
              <a:rPr lang="en-GB" dirty="0"/>
              <a:t>.</a:t>
            </a:r>
          </a:p>
          <a:p>
            <a:r>
              <a:rPr lang="en-GB" dirty="0"/>
              <a:t>There are two types of artist objects: </a:t>
            </a:r>
          </a:p>
          <a:p>
            <a:pPr lvl="1"/>
            <a:r>
              <a:rPr lang="en-GB" sz="4000" b="1" dirty="0"/>
              <a:t>Primitive Types: </a:t>
            </a:r>
            <a:r>
              <a:rPr lang="en-GB" sz="4000" dirty="0"/>
              <a:t>2D Line, Rectangle, Circle and Text</a:t>
            </a:r>
          </a:p>
          <a:p>
            <a:pPr lvl="1"/>
            <a:r>
              <a:rPr lang="en-GB" sz="4000" b="1" dirty="0"/>
              <a:t>Composite Type: </a:t>
            </a:r>
            <a:r>
              <a:rPr lang="en-GB" sz="4000" dirty="0"/>
              <a:t>Axis, Tick, </a:t>
            </a:r>
            <a:r>
              <a:rPr lang="en-GB" sz="4000" dirty="0">
                <a:solidFill>
                  <a:srgbClr val="FF0000"/>
                </a:solidFill>
              </a:rPr>
              <a:t>Axes</a:t>
            </a:r>
            <a:r>
              <a:rPr lang="en-GB" sz="4000" dirty="0"/>
              <a:t> and </a:t>
            </a:r>
            <a:r>
              <a:rPr lang="en-GB" sz="4000" dirty="0">
                <a:solidFill>
                  <a:srgbClr val="FF0000"/>
                </a:solidFill>
              </a:rPr>
              <a:t>Figure</a:t>
            </a:r>
            <a:r>
              <a:rPr lang="en-GB" sz="4000" dirty="0"/>
              <a:t> </a:t>
            </a:r>
          </a:p>
          <a:p>
            <a:r>
              <a:rPr lang="en-GB" dirty="0"/>
              <a:t>A composite artist object may contain other primitive and/or composite artist objects </a:t>
            </a:r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172901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Matplotlib Architecture: Scripting Layer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">
            <a:extLst>
              <a:ext uri="{FF2B5EF4-FFF2-40B4-BE49-F238E27FC236}">
                <a16:creationId xmlns:a16="http://schemas.microsoft.com/office/drawing/2014/main" id="{9D8A777C-E5E1-4274-9E2E-F9FBCB87D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/>
          </a:bodyPr>
          <a:lstStyle/>
          <a:p>
            <a:r>
              <a:rPr lang="en-GB" dirty="0"/>
              <a:t>The most important element in the scripting layer is the </a:t>
            </a:r>
            <a:r>
              <a:rPr lang="en-GB" b="1" dirty="0" err="1">
                <a:solidFill>
                  <a:srgbClr val="FF0000"/>
                </a:solidFill>
              </a:rPr>
              <a:t>pyplot</a:t>
            </a:r>
            <a:r>
              <a:rPr lang="en-GB" dirty="0"/>
              <a:t> interface. </a:t>
            </a:r>
          </a:p>
          <a:p>
            <a:pPr lvl="1"/>
            <a:r>
              <a:rPr lang="en-GB" dirty="0"/>
              <a:t>There is another interface called </a:t>
            </a:r>
            <a:r>
              <a:rPr lang="en-GB" i="1" dirty="0" err="1">
                <a:solidFill>
                  <a:srgbClr val="FF0000"/>
                </a:solidFill>
              </a:rPr>
              <a:t>pylab</a:t>
            </a:r>
            <a:r>
              <a:rPr lang="en-GB" dirty="0"/>
              <a:t> which includes NumPy like capabilities alongside of figure creation but the use of </a:t>
            </a:r>
            <a:r>
              <a:rPr lang="en-GB" dirty="0" err="1"/>
              <a:t>pylab</a:t>
            </a:r>
            <a:r>
              <a:rPr lang="en-GB" dirty="0"/>
              <a:t> is </a:t>
            </a:r>
            <a:r>
              <a:rPr lang="en-GB" dirty="0">
                <a:solidFill>
                  <a:srgbClr val="FF0000"/>
                </a:solidFill>
              </a:rPr>
              <a:t>discouraged</a:t>
            </a:r>
            <a:r>
              <a:rPr lang="en-GB" dirty="0"/>
              <a:t> by the Matplotlib developers </a:t>
            </a:r>
          </a:p>
          <a:p>
            <a:r>
              <a:rPr lang="en-GB" dirty="0" err="1"/>
              <a:t>pyplot</a:t>
            </a:r>
            <a:r>
              <a:rPr lang="en-GB" dirty="0"/>
              <a:t> interface automates and hides the details of figure canvas &amp; artist creation and connecting them together</a:t>
            </a:r>
          </a:p>
          <a:p>
            <a:r>
              <a:rPr lang="en-GB" dirty="0"/>
              <a:t> Results in shorter codes for figure creation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862737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Anatomy of A Figure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458" name="Picture 2" descr="../../_images/anatomy.png">
            <a:extLst>
              <a:ext uri="{FF2B5EF4-FFF2-40B4-BE49-F238E27FC236}">
                <a16:creationId xmlns:a16="http://schemas.microsoft.com/office/drawing/2014/main" id="{A4FDB958-9B3D-4A7D-85F7-0A72BDE8E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7"/>
          <a:stretch/>
        </p:blipFill>
        <p:spPr bwMode="auto">
          <a:xfrm>
            <a:off x="1107415" y="2755900"/>
            <a:ext cx="11372216" cy="10730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https://files.realpython.com/media/fig_map.bc8c7cabd823.png">
            <a:extLst>
              <a:ext uri="{FF2B5EF4-FFF2-40B4-BE49-F238E27FC236}">
                <a16:creationId xmlns:a16="http://schemas.microsoft.com/office/drawing/2014/main" id="{962058BB-0070-430A-AC7B-09AB306AC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6912" y="2755900"/>
            <a:ext cx="10301887" cy="1073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3272372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Line"/>
          <p:cNvSpPr/>
          <p:nvPr/>
        </p:nvSpPr>
        <p:spPr>
          <a:xfrm>
            <a:off x="952500" y="3048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1" name="Line"/>
          <p:cNvSpPr/>
          <p:nvPr/>
        </p:nvSpPr>
        <p:spPr>
          <a:xfrm>
            <a:off x="952500" y="889000"/>
            <a:ext cx="22494922" cy="0"/>
          </a:xfrm>
          <a:prstGeom prst="line">
            <a:avLst/>
          </a:pr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2" name="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Matplotlib – Pandas Relation </a:t>
            </a:r>
            <a:endParaRPr dirty="0"/>
          </a:p>
        </p:txBody>
      </p:sp>
      <p:sp>
        <p:nvSpPr>
          <p:cNvPr id="1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52300" y="13017500"/>
            <a:ext cx="266701" cy="5080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  <p:pic>
        <p:nvPicPr>
          <p:cNvPr id="155" name="Screen Shot 2020-02-09 at 11.04.07 PM.png" descr="Screen Shot 2020-02-09 at 11.04.0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4704" y="317500"/>
            <a:ext cx="2146853" cy="24384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">
            <a:extLst>
              <a:ext uri="{FF2B5EF4-FFF2-40B4-BE49-F238E27FC236}">
                <a16:creationId xmlns:a16="http://schemas.microsoft.com/office/drawing/2014/main" id="{9D8A777C-E5E1-4274-9E2E-F9FBCB87D1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2500" y="3695700"/>
            <a:ext cx="22479000" cy="8572500"/>
          </a:xfrm>
          <a:prstGeom prst="rect">
            <a:avLst/>
          </a:prstGeom>
        </p:spPr>
        <p:txBody>
          <a:bodyPr anchor="t" anchorCtr="0">
            <a:normAutofit fontScale="70000" lnSpcReduction="20000"/>
          </a:bodyPr>
          <a:lstStyle/>
          <a:p>
            <a:r>
              <a:rPr lang="en-GB" dirty="0"/>
              <a:t>Pandas come with its own scripting interface for Matplotlib.</a:t>
            </a:r>
          </a:p>
          <a:p>
            <a:r>
              <a:rPr lang="en-GB" dirty="0"/>
              <a:t>It can be used by calling </a:t>
            </a:r>
            <a:r>
              <a:rPr lang="en-GB" dirty="0" err="1"/>
              <a:t>dataframe.plot</a:t>
            </a:r>
            <a:r>
              <a:rPr lang="en-GB" dirty="0"/>
              <a:t>() function. The figure can be customized by using following parameters:</a:t>
            </a:r>
          </a:p>
          <a:p>
            <a:pPr marL="1524000" lvl="1" indent="-914400">
              <a:buFont typeface="+mj-lt"/>
              <a:buAutoNum type="arabicPeriod"/>
            </a:pPr>
            <a:r>
              <a:rPr lang="en-GB" b="1" dirty="0"/>
              <a:t>kind</a:t>
            </a:r>
            <a:r>
              <a:rPr lang="en-GB" dirty="0"/>
              <a:t> : “line”,“bar”,”</a:t>
            </a:r>
            <a:r>
              <a:rPr lang="en-GB" dirty="0" err="1"/>
              <a:t>barh</a:t>
            </a:r>
            <a:r>
              <a:rPr lang="en-GB" dirty="0"/>
              <a:t>”,”pie”,”</a:t>
            </a:r>
            <a:r>
              <a:rPr lang="en-GB" dirty="0" err="1"/>
              <a:t>scatter”etc</a:t>
            </a:r>
            <a:r>
              <a:rPr lang="en-GB" dirty="0"/>
              <a:t>…</a:t>
            </a:r>
          </a:p>
          <a:p>
            <a:pPr marL="1524000" lvl="1" indent="-914400">
              <a:buFont typeface="+mj-lt"/>
              <a:buAutoNum type="arabicPeriod"/>
            </a:pPr>
            <a:r>
              <a:rPr lang="en-GB" b="1" dirty="0" err="1"/>
              <a:t>color</a:t>
            </a:r>
            <a:r>
              <a:rPr lang="en-GB" dirty="0"/>
              <a:t> — Which accepts and array of hex codes corresponding sequential to each data series / column.</a:t>
            </a:r>
          </a:p>
          <a:p>
            <a:pPr marL="1524000" lvl="1" indent="-914400">
              <a:buFont typeface="+mj-lt"/>
              <a:buAutoNum type="arabicPeriod"/>
            </a:pPr>
            <a:r>
              <a:rPr lang="en-GB" b="1" dirty="0" err="1"/>
              <a:t>linestyle</a:t>
            </a:r>
            <a:r>
              <a:rPr lang="en-GB" dirty="0"/>
              <a:t> — ‘solid’, ‘dotted’, ‘dashed’ (applies to line graphs only)</a:t>
            </a:r>
          </a:p>
          <a:p>
            <a:pPr marL="1524000" lvl="1" indent="-914400">
              <a:buFont typeface="+mj-lt"/>
              <a:buAutoNum type="arabicPeriod"/>
            </a:pPr>
            <a:r>
              <a:rPr lang="en-GB" b="1" dirty="0" err="1"/>
              <a:t>xlim</a:t>
            </a:r>
            <a:r>
              <a:rPr lang="en-GB" b="1" dirty="0"/>
              <a:t>, </a:t>
            </a:r>
            <a:r>
              <a:rPr lang="en-GB" b="1" dirty="0" err="1"/>
              <a:t>ylim</a:t>
            </a:r>
            <a:r>
              <a:rPr lang="en-GB" dirty="0"/>
              <a:t> — specify a tuple (lower limit, upper limit) for which the plot will be drawn</a:t>
            </a:r>
          </a:p>
          <a:p>
            <a:pPr marL="1524000" lvl="1" indent="-914400">
              <a:buFont typeface="+mj-lt"/>
              <a:buAutoNum type="arabicPeriod"/>
            </a:pPr>
            <a:r>
              <a:rPr lang="en-GB" b="1" dirty="0"/>
              <a:t>legend</a:t>
            </a:r>
            <a:r>
              <a:rPr lang="en-GB" dirty="0"/>
              <a:t>— a </a:t>
            </a:r>
            <a:r>
              <a:rPr lang="en-GB" dirty="0" err="1"/>
              <a:t>boolean</a:t>
            </a:r>
            <a:r>
              <a:rPr lang="en-GB" dirty="0"/>
              <a:t> value to display or hide the legend</a:t>
            </a:r>
          </a:p>
          <a:p>
            <a:pPr marL="1524000" lvl="1" indent="-914400">
              <a:buFont typeface="+mj-lt"/>
              <a:buAutoNum type="arabicPeriod"/>
            </a:pPr>
            <a:r>
              <a:rPr lang="en-GB" b="1" dirty="0"/>
              <a:t>labels</a:t>
            </a:r>
            <a:r>
              <a:rPr lang="en-GB" dirty="0"/>
              <a:t> — a list corresponding to the number of columns in the </a:t>
            </a:r>
            <a:r>
              <a:rPr lang="en-GB" dirty="0" err="1"/>
              <a:t>dataframe</a:t>
            </a:r>
            <a:r>
              <a:rPr lang="en-GB" dirty="0"/>
              <a:t>, a descriptive name can be provided here for the legend</a:t>
            </a:r>
            <a:endParaRPr lang="en-GB" b="1" dirty="0"/>
          </a:p>
          <a:p>
            <a:pPr marL="1524000" lvl="1" indent="-914400">
              <a:buFont typeface="+mj-lt"/>
              <a:buAutoNum type="arabicPeriod"/>
            </a:pPr>
            <a:r>
              <a:rPr lang="en-GB" b="1" dirty="0"/>
              <a:t>title</a:t>
            </a:r>
            <a:r>
              <a:rPr lang="en-GB" dirty="0"/>
              <a:t> — The string title of the plot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2049957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New_Template4">
  <a:themeElements>
    <a:clrScheme name="New_Template4">
      <a:dk1>
        <a:srgbClr val="414141"/>
      </a:dk1>
      <a:lt1>
        <a:srgbClr val="004141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25400" dist="33948" dir="2700000" rotWithShape="0">
                <a:srgbClr val="3B3936"/>
              </a:outerShdw>
            </a:effectLst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New_Template4">
  <a:themeElements>
    <a:clrScheme name="New_Template4">
      <a:dk1>
        <a:srgbClr val="000000"/>
      </a:dk1>
      <a:lt1>
        <a:srgbClr val="FFFFFF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New_Template4">
      <a:majorFont>
        <a:latin typeface="Bodoni SvtyTwo ITC TT-Book"/>
        <a:ea typeface="Bodoni SvtyTwo ITC TT-Book"/>
        <a:cs typeface="Bodoni SvtyTwo ITC TT-Book"/>
      </a:majorFont>
      <a:minorFont>
        <a:latin typeface="Bodoni SvtyTwo ITC TT-Book"/>
        <a:ea typeface="Bodoni SvtyTwo ITC TT-Book"/>
        <a:cs typeface="Bodoni SvtyTwo ITC TT-Book"/>
      </a:minorFont>
    </a:fontScheme>
    <a:fmtScheme name="New_Template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25400" dist="33948" dir="2700000" rotWithShape="0">
                <a:srgbClr val="3B3936"/>
              </a:outerShdw>
            </a:effectLst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14141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414141"/>
            </a:solidFill>
            <a:effectLst/>
            <a:uFillTx/>
            <a:latin typeface="Palatino"/>
            <a:ea typeface="Palatino"/>
            <a:cs typeface="Palatino"/>
            <a:sym typeface="Palatin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21563</TotalTime>
  <Words>1106</Words>
  <Application>Microsoft Office PowerPoint</Application>
  <PresentationFormat>Custom</PresentationFormat>
  <Paragraphs>143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Bodoni SvtyTwo ITC TT-Book</vt:lpstr>
      <vt:lpstr>Helvetica</vt:lpstr>
      <vt:lpstr>Helvetica Neue</vt:lpstr>
      <vt:lpstr>medium-content-serif-font</vt:lpstr>
      <vt:lpstr>Menlo</vt:lpstr>
      <vt:lpstr>Palatino</vt:lpstr>
      <vt:lpstr>Times New Roman</vt:lpstr>
      <vt:lpstr>Zapf Dingbats</vt:lpstr>
      <vt:lpstr>New_Template4</vt:lpstr>
      <vt:lpstr>Data Science Certificate Program</vt:lpstr>
      <vt:lpstr>Data Visualization</vt:lpstr>
      <vt:lpstr>Data Visualization</vt:lpstr>
      <vt:lpstr>Best Practices</vt:lpstr>
      <vt:lpstr>Level of Detail</vt:lpstr>
      <vt:lpstr>Level of Detail</vt:lpstr>
      <vt:lpstr>Context is Important</vt:lpstr>
      <vt:lpstr>Choosing the Right Graph</vt:lpstr>
      <vt:lpstr>Choosing the Right Graph</vt:lpstr>
      <vt:lpstr>Choosing the Right Graph</vt:lpstr>
      <vt:lpstr>Choosing the Right Graph: Pitfalls</vt:lpstr>
      <vt:lpstr>Choosing the Right Graph: Pitfalls</vt:lpstr>
      <vt:lpstr>Choosing the Right Graph: Pitfalls</vt:lpstr>
      <vt:lpstr>Choosing the Right Graph: Pitfalls</vt:lpstr>
      <vt:lpstr>Additional Material: IBCS</vt:lpstr>
      <vt:lpstr>IBCS: Perceptual Rules</vt:lpstr>
      <vt:lpstr>Matplotlib Library</vt:lpstr>
      <vt:lpstr>Matplotlib Architecture</vt:lpstr>
      <vt:lpstr>Matplotlib Architecture: Backend</vt:lpstr>
      <vt:lpstr>Matplotlib Architecture: Artist</vt:lpstr>
      <vt:lpstr>Matplotlib Architecture: Scripting Layer</vt:lpstr>
      <vt:lpstr>Anatomy of A Figure</vt:lpstr>
      <vt:lpstr>Matplotlib – Pandas Relation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 432E Facility Layout</dc:title>
  <dc:creator>Mehmet Ali Ergün</dc:creator>
  <cp:lastModifiedBy>Mehmet Ali Ergün</cp:lastModifiedBy>
  <cp:revision>116</cp:revision>
  <dcterms:modified xsi:type="dcterms:W3CDTF">2022-05-17T08:26:27Z</dcterms:modified>
</cp:coreProperties>
</file>